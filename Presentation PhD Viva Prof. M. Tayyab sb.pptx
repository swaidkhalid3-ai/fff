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sldIdLst>
    <p:sldId id="258" r:id="rId2"/>
    <p:sldId id="259" r:id="rId3"/>
    <p:sldId id="257" r:id="rId4"/>
    <p:sldId id="260" r:id="rId5"/>
    <p:sldId id="261" r:id="rId6"/>
    <p:sldId id="262" r:id="rId7"/>
    <p:sldId id="263" r:id="rId8"/>
    <p:sldId id="264" r:id="rId9"/>
    <p:sldId id="265" r:id="rId10"/>
    <p:sldId id="266" r:id="rId11"/>
    <p:sldId id="267" r:id="rId12"/>
    <p:sldId id="268" r:id="rId13"/>
    <p:sldId id="274" r:id="rId14"/>
    <p:sldId id="275" r:id="rId15"/>
    <p:sldId id="276" r:id="rId16"/>
    <p:sldId id="277" r:id="rId17"/>
    <p:sldId id="278" r:id="rId18"/>
    <p:sldId id="279" r:id="rId19"/>
    <p:sldId id="285" r:id="rId20"/>
    <p:sldId id="280" r:id="rId21"/>
    <p:sldId id="281" r:id="rId22"/>
    <p:sldId id="286" r:id="rId23"/>
    <p:sldId id="287" r:id="rId24"/>
    <p:sldId id="288" r:id="rId25"/>
    <p:sldId id="289" r:id="rId26"/>
    <p:sldId id="290" r:id="rId27"/>
    <p:sldId id="291" r:id="rId28"/>
    <p:sldId id="292" r:id="rId29"/>
    <p:sldId id="293" r:id="rId30"/>
    <p:sldId id="282" r:id="rId31"/>
    <p:sldId id="294" r:id="rId32"/>
    <p:sldId id="295" r:id="rId33"/>
    <p:sldId id="296" r:id="rId34"/>
    <p:sldId id="297" r:id="rId35"/>
    <p:sldId id="298" r:id="rId36"/>
    <p:sldId id="299" r:id="rId37"/>
    <p:sldId id="300" r:id="rId38"/>
    <p:sldId id="301" r:id="rId39"/>
    <p:sldId id="302" r:id="rId40"/>
    <p:sldId id="273"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9" d="100"/>
          <a:sy n="99" d="100"/>
        </p:scale>
        <p:origin x="-240"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9781E12E-F6C9-47E8-B78E-228297C4366E}" type="datetimeFigureOut">
              <a:rPr lang="en-US" smtClean="0"/>
              <a:t>2/1/2026</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9DD89338-308C-4C0C-B4AB-88C8EC68E0B6}"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781E12E-F6C9-47E8-B78E-228297C4366E}" type="datetimeFigureOut">
              <a:rPr lang="en-US" smtClean="0"/>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89338-308C-4C0C-B4AB-88C8EC68E0B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781E12E-F6C9-47E8-B78E-228297C4366E}" type="datetimeFigureOut">
              <a:rPr lang="en-US" smtClean="0"/>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89338-308C-4C0C-B4AB-88C8EC68E0B6}"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9781E12E-F6C9-47E8-B78E-228297C4366E}" type="datetimeFigureOut">
              <a:rPr lang="en-US" smtClean="0"/>
              <a:t>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D89338-308C-4C0C-B4AB-88C8EC68E0B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9781E12E-F6C9-47E8-B78E-228297C4366E}" type="datetimeFigureOut">
              <a:rPr lang="en-US" smtClean="0"/>
              <a:t>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D89338-308C-4C0C-B4AB-88C8EC68E0B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9781E12E-F6C9-47E8-B78E-228297C4366E}" type="datetimeFigureOut">
              <a:rPr lang="en-US" smtClean="0"/>
              <a:t>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D89338-308C-4C0C-B4AB-88C8EC68E0B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81E12E-F6C9-47E8-B78E-228297C4366E}" type="datetimeFigureOut">
              <a:rPr lang="en-US" smtClean="0"/>
              <a:t>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D89338-308C-4C0C-B4AB-88C8EC68E0B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9781E12E-F6C9-47E8-B78E-228297C4366E}" type="datetimeFigureOut">
              <a:rPr lang="en-US" smtClean="0"/>
              <a:t>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D89338-308C-4C0C-B4AB-88C8EC68E0B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9781E12E-F6C9-47E8-B78E-228297C4366E}" type="datetimeFigureOut">
              <a:rPr lang="en-US" smtClean="0"/>
              <a:t>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9DD89338-308C-4C0C-B4AB-88C8EC68E0B6}"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781E12E-F6C9-47E8-B78E-228297C4366E}" type="datetimeFigureOut">
              <a:rPr lang="en-US" smtClean="0"/>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89338-308C-4C0C-B4AB-88C8EC68E0B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781E12E-F6C9-47E8-B78E-228297C4366E}" type="datetimeFigureOut">
              <a:rPr lang="en-US" smtClean="0"/>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89338-308C-4C0C-B4AB-88C8EC68E0B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9781E12E-F6C9-47E8-B78E-228297C4366E}" type="datetimeFigureOut">
              <a:rPr lang="en-US" smtClean="0"/>
              <a:t>2/1/2026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9DD89338-308C-4C0C-B4AB-88C8EC68E0B6}"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184290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62000" y="807720"/>
            <a:ext cx="7772400" cy="1508760"/>
          </a:xfrm>
        </p:spPr>
        <p:txBody>
          <a:bodyPr>
            <a:normAutofit/>
          </a:bodyPr>
          <a:lstStyle/>
          <a:p>
            <a:pPr algn="ctr" rtl="1"/>
            <a:r>
              <a:rPr lang="ur-PK" sz="3600" b="1" dirty="0">
                <a:effectLst>
                  <a:outerShdw blurRad="38100" dist="38100" dir="2700000" algn="tl">
                    <a:srgbClr val="000000">
                      <a:alpha val="43137"/>
                    </a:srgbClr>
                  </a:outerShdw>
                </a:effectLst>
                <a:latin typeface="Jameel Noori Nastaleeq" pitchFamily="2" charset="-78"/>
                <a:cs typeface="Jameel Noori Nastaleeq" pitchFamily="2" charset="-78"/>
              </a:rPr>
              <a:t>اسلامی تہذیب و تمدن کی تشکیلِ جدید، مولانا مودودیؒ اور علامہ محمد اسدؒ کے افکار کا تجزیاتی مطالعہ</a:t>
            </a:r>
            <a:endParaRPr lang="en-US" sz="4000" b="1" dirty="0">
              <a:effectLst>
                <a:outerShdw blurRad="38100" dist="38100" dir="2700000" algn="tl">
                  <a:srgbClr val="000000">
                    <a:alpha val="43137"/>
                  </a:srgbClr>
                </a:outerShdw>
              </a:effectLst>
              <a:latin typeface="Jameel Noori Nastaleeq" pitchFamily="2" charset="-78"/>
              <a:cs typeface="Jameel Noori Nastaleeq" pitchFamily="2" charset="-78"/>
            </a:endParaRPr>
          </a:p>
        </p:txBody>
      </p:sp>
      <p:sp>
        <p:nvSpPr>
          <p:cNvPr id="4" name="Rectangle 3"/>
          <p:cNvSpPr/>
          <p:nvPr/>
        </p:nvSpPr>
        <p:spPr>
          <a:xfrm>
            <a:off x="2362200" y="2281535"/>
            <a:ext cx="4572000" cy="461665"/>
          </a:xfrm>
          <a:prstGeom prst="rect">
            <a:avLst/>
          </a:prstGeom>
        </p:spPr>
        <p:txBody>
          <a:bodyPr>
            <a:spAutoFit/>
          </a:bodyPr>
          <a:lstStyle/>
          <a:p>
            <a:pPr algn="ctr" rtl="1"/>
            <a:r>
              <a:rPr lang="ur-PK" sz="2400" dirty="0">
                <a:latin typeface="Jameel Noori Nastaleeq" pitchFamily="2" charset="-78"/>
                <a:cs typeface="Jameel Noori Nastaleeq" pitchFamily="2" charset="-78"/>
              </a:rPr>
              <a:t>تحقیقی مقالہ برائے پی ایچ ڈی (علوم اسلامیہ)</a:t>
            </a:r>
            <a:endParaRPr lang="en-US" sz="2400" dirty="0">
              <a:latin typeface="Jameel Noori Nastaleeq" pitchFamily="2" charset="-78"/>
              <a:cs typeface="Jameel Noori Nastaleeq" pitchFamily="2" charset="-78"/>
            </a:endParaRPr>
          </a:p>
        </p:txBody>
      </p:sp>
      <p:graphicFrame>
        <p:nvGraphicFramePr>
          <p:cNvPr id="5" name="Table 4"/>
          <p:cNvGraphicFramePr>
            <a:graphicFrameLocks noGrp="1"/>
          </p:cNvGraphicFramePr>
          <p:nvPr>
            <p:extLst>
              <p:ext uri="{D42A27DB-BD31-4B8C-83A1-F6EECF244321}">
                <p14:modId xmlns:p14="http://schemas.microsoft.com/office/powerpoint/2010/main" val="482530296"/>
              </p:ext>
            </p:extLst>
          </p:nvPr>
        </p:nvGraphicFramePr>
        <p:xfrm>
          <a:off x="2057400" y="2895600"/>
          <a:ext cx="5412105" cy="1981200"/>
        </p:xfrm>
        <a:graphic>
          <a:graphicData uri="http://schemas.openxmlformats.org/drawingml/2006/table">
            <a:tbl>
              <a:tblPr rtl="1" firstRow="1" firstCol="1" bandRow="1">
                <a:tableStyleId>{AF606853-7671-496A-8E4F-DF71F8EC918B}</a:tableStyleId>
              </a:tblPr>
              <a:tblGrid>
                <a:gridCol w="2705735"/>
                <a:gridCol w="2706370"/>
              </a:tblGrid>
              <a:tr h="0">
                <a:tc>
                  <a:txBody>
                    <a:bodyPr/>
                    <a:lstStyle/>
                    <a:p>
                      <a:pPr marL="0" marR="0" algn="ctr" rtl="1">
                        <a:lnSpc>
                          <a:spcPct val="125000"/>
                        </a:lnSpc>
                        <a:spcBef>
                          <a:spcPts val="0"/>
                        </a:spcBef>
                        <a:spcAft>
                          <a:spcPts val="0"/>
                        </a:spcAft>
                      </a:pPr>
                      <a:r>
                        <a:rPr lang="ur-PK" sz="2400" dirty="0">
                          <a:effectLst/>
                          <a:latin typeface="Jameel Noori Nastaleeq" pitchFamily="2" charset="-78"/>
                          <a:cs typeface="Jameel Noori Nastaleeq" pitchFamily="2" charset="-78"/>
                        </a:rPr>
                        <a:t>مقالہ نگار</a:t>
                      </a:r>
                      <a:endParaRPr lang="en-US" sz="1600" b="0" dirty="0">
                        <a:effectLst/>
                        <a:latin typeface="Jameel Noori Nastaleeq" pitchFamily="2" charset="-78"/>
                        <a:ea typeface="Calibri"/>
                        <a:cs typeface="Jameel Noori Nastaleeq" pitchFamily="2" charset="-78"/>
                      </a:endParaRPr>
                    </a:p>
                  </a:txBody>
                  <a:tcPr marL="68580" marR="68580" marT="0" marB="0"/>
                </a:tc>
                <a:tc>
                  <a:txBody>
                    <a:bodyPr/>
                    <a:lstStyle/>
                    <a:p>
                      <a:pPr marL="0" marR="0" algn="ctr" rtl="1">
                        <a:lnSpc>
                          <a:spcPct val="125000"/>
                        </a:lnSpc>
                        <a:spcBef>
                          <a:spcPts val="0"/>
                        </a:spcBef>
                        <a:spcAft>
                          <a:spcPts val="0"/>
                        </a:spcAft>
                      </a:pPr>
                      <a:r>
                        <a:rPr lang="ur-PK" sz="2400" dirty="0">
                          <a:effectLst/>
                          <a:latin typeface="Jameel Noori Nastaleeq" pitchFamily="2" charset="-78"/>
                          <a:cs typeface="Jameel Noori Nastaleeq" pitchFamily="2" charset="-78"/>
                        </a:rPr>
                        <a:t>نگران مقالہ </a:t>
                      </a:r>
                      <a:endParaRPr lang="en-US" sz="1600" b="0" dirty="0">
                        <a:effectLst/>
                        <a:latin typeface="Jameel Noori Nastaleeq" pitchFamily="2" charset="-78"/>
                        <a:ea typeface="Calibri"/>
                        <a:cs typeface="Jameel Noori Nastaleeq" pitchFamily="2" charset="-78"/>
                      </a:endParaRPr>
                    </a:p>
                  </a:txBody>
                  <a:tcPr marL="68580" marR="68580" marT="0" marB="0"/>
                </a:tc>
              </a:tr>
              <a:tr h="0">
                <a:tc>
                  <a:txBody>
                    <a:bodyPr/>
                    <a:lstStyle/>
                    <a:p>
                      <a:pPr marL="0" marR="0" algn="ctr" rtl="1">
                        <a:lnSpc>
                          <a:spcPct val="125000"/>
                        </a:lnSpc>
                        <a:spcBef>
                          <a:spcPts val="0"/>
                        </a:spcBef>
                        <a:spcAft>
                          <a:spcPts val="0"/>
                        </a:spcAft>
                      </a:pPr>
                      <a:r>
                        <a:rPr lang="ur-PK" sz="3600" b="0" dirty="0">
                          <a:effectLst/>
                          <a:latin typeface="Jameel Noori Nastaleeq" pitchFamily="2" charset="-78"/>
                          <a:cs typeface="Jameel Noori Nastaleeq" pitchFamily="2" charset="-78"/>
                        </a:rPr>
                        <a:t>محمد طیب سعید</a:t>
                      </a:r>
                      <a:endParaRPr lang="en-US" sz="1600" b="0" dirty="0">
                        <a:effectLst/>
                        <a:latin typeface="Jameel Noori Nastaleeq" pitchFamily="2" charset="-78"/>
                        <a:cs typeface="Jameel Noori Nastaleeq" pitchFamily="2" charset="-78"/>
                      </a:endParaRPr>
                    </a:p>
                    <a:p>
                      <a:pPr marL="0" marR="0" algn="ctr" rtl="0">
                        <a:lnSpc>
                          <a:spcPct val="125000"/>
                        </a:lnSpc>
                        <a:spcBef>
                          <a:spcPts val="0"/>
                        </a:spcBef>
                        <a:spcAft>
                          <a:spcPts val="0"/>
                        </a:spcAft>
                      </a:pPr>
                      <a:r>
                        <a:rPr lang="en-US" sz="2000" b="0" dirty="0" err="1">
                          <a:effectLst/>
                          <a:latin typeface="Jameel Noori Nastaleeq" pitchFamily="2" charset="-78"/>
                          <a:cs typeface="Jameel Noori Nastaleeq" pitchFamily="2" charset="-78"/>
                        </a:rPr>
                        <a:t>Ph.D</a:t>
                      </a:r>
                      <a:r>
                        <a:rPr lang="en-US" sz="2000" b="0" dirty="0">
                          <a:effectLst/>
                          <a:latin typeface="Jameel Noori Nastaleeq" pitchFamily="2" charset="-78"/>
                          <a:cs typeface="Jameel Noori Nastaleeq" pitchFamily="2" charset="-78"/>
                        </a:rPr>
                        <a:t> Islamic Studies</a:t>
                      </a:r>
                      <a:endParaRPr lang="en-US" sz="1600" b="0" dirty="0">
                        <a:effectLst/>
                        <a:latin typeface="Jameel Noori Nastaleeq" pitchFamily="2" charset="-78"/>
                        <a:cs typeface="Jameel Noori Nastaleeq" pitchFamily="2" charset="-78"/>
                      </a:endParaRPr>
                    </a:p>
                    <a:p>
                      <a:pPr marL="0" marR="0" algn="ctr" rtl="0">
                        <a:lnSpc>
                          <a:spcPct val="125000"/>
                        </a:lnSpc>
                        <a:spcBef>
                          <a:spcPts val="0"/>
                        </a:spcBef>
                        <a:spcAft>
                          <a:spcPts val="0"/>
                        </a:spcAft>
                      </a:pPr>
                      <a:r>
                        <a:rPr lang="en-US" sz="2000" b="0" dirty="0">
                          <a:effectLst/>
                          <a:latin typeface="Jameel Noori Nastaleeq" pitchFamily="2" charset="-78"/>
                          <a:cs typeface="Jameel Noori Nastaleeq" pitchFamily="2" charset="-78"/>
                        </a:rPr>
                        <a:t>Roll No. Ph.D-IS-0910</a:t>
                      </a:r>
                      <a:endParaRPr lang="en-US" sz="1600" b="0" dirty="0">
                        <a:effectLst/>
                        <a:latin typeface="Jameel Noori Nastaleeq" pitchFamily="2" charset="-78"/>
                        <a:ea typeface="Calibri"/>
                        <a:cs typeface="Jameel Noori Nastaleeq" pitchFamily="2" charset="-78"/>
                      </a:endParaRPr>
                    </a:p>
                  </a:txBody>
                  <a:tcPr marL="68580" marR="68580" marT="0" marB="0">
                    <a:solidFill>
                      <a:schemeClr val="bg2"/>
                    </a:solidFill>
                  </a:tcPr>
                </a:tc>
                <a:tc>
                  <a:txBody>
                    <a:bodyPr/>
                    <a:lstStyle/>
                    <a:p>
                      <a:pPr marL="0" marR="0" algn="ctr" rtl="1">
                        <a:lnSpc>
                          <a:spcPct val="125000"/>
                        </a:lnSpc>
                        <a:spcBef>
                          <a:spcPts val="0"/>
                        </a:spcBef>
                        <a:spcAft>
                          <a:spcPts val="0"/>
                        </a:spcAft>
                      </a:pPr>
                      <a:r>
                        <a:rPr lang="ur-PK" sz="3200" b="0" dirty="0">
                          <a:effectLst/>
                          <a:latin typeface="Jameel Noori Nastaleeq" pitchFamily="2" charset="-78"/>
                          <a:cs typeface="Jameel Noori Nastaleeq" pitchFamily="2" charset="-78"/>
                        </a:rPr>
                        <a:t>ڈاکٹر محمد ادریس لودھی</a:t>
                      </a:r>
                      <a:endParaRPr lang="en-US" sz="1600" b="0" dirty="0">
                        <a:effectLst/>
                        <a:latin typeface="Jameel Noori Nastaleeq" pitchFamily="2" charset="-78"/>
                        <a:cs typeface="Jameel Noori Nastaleeq" pitchFamily="2" charset="-78"/>
                      </a:endParaRPr>
                    </a:p>
                    <a:p>
                      <a:pPr marL="0" marR="0" algn="ctr" rtl="1">
                        <a:lnSpc>
                          <a:spcPct val="125000"/>
                        </a:lnSpc>
                        <a:spcBef>
                          <a:spcPts val="0"/>
                        </a:spcBef>
                        <a:spcAft>
                          <a:spcPts val="0"/>
                        </a:spcAft>
                      </a:pPr>
                      <a:r>
                        <a:rPr lang="ur-PK" sz="2400" b="0" dirty="0">
                          <a:effectLst/>
                          <a:latin typeface="Jameel Noori Nastaleeq" pitchFamily="2" charset="-78"/>
                          <a:cs typeface="Jameel Noori Nastaleeq" pitchFamily="2" charset="-78"/>
                        </a:rPr>
                        <a:t>سابق پروفیسر، ادارہ علوم اسلامیہ </a:t>
                      </a:r>
                      <a:endParaRPr lang="en-US" sz="1600" b="0" dirty="0">
                        <a:effectLst/>
                        <a:latin typeface="Jameel Noori Nastaleeq" pitchFamily="2" charset="-78"/>
                        <a:cs typeface="Jameel Noori Nastaleeq" pitchFamily="2" charset="-78"/>
                      </a:endParaRPr>
                    </a:p>
                    <a:p>
                      <a:pPr marL="0" marR="0" algn="ctr" rtl="1">
                        <a:lnSpc>
                          <a:spcPct val="125000"/>
                        </a:lnSpc>
                        <a:spcBef>
                          <a:spcPts val="0"/>
                        </a:spcBef>
                        <a:spcAft>
                          <a:spcPts val="0"/>
                        </a:spcAft>
                      </a:pPr>
                      <a:r>
                        <a:rPr lang="ur-PK" sz="2400" b="0" dirty="0">
                          <a:effectLst/>
                          <a:latin typeface="Jameel Noori Nastaleeq" pitchFamily="2" charset="-78"/>
                          <a:cs typeface="Jameel Noori Nastaleeq" pitchFamily="2" charset="-78"/>
                        </a:rPr>
                        <a:t>بہاءالدین زکریا یونیورسٹی ملتان</a:t>
                      </a:r>
                      <a:endParaRPr lang="en-US" sz="1600" b="0" dirty="0">
                        <a:effectLst/>
                        <a:latin typeface="Jameel Noori Nastaleeq" pitchFamily="2" charset="-78"/>
                        <a:ea typeface="Calibri"/>
                        <a:cs typeface="Jameel Noori Nastaleeq" pitchFamily="2" charset="-78"/>
                      </a:endParaRPr>
                    </a:p>
                  </a:txBody>
                  <a:tcPr marL="68580" marR="68580" marT="0" marB="0">
                    <a:solidFill>
                      <a:schemeClr val="bg2"/>
                    </a:solidFill>
                  </a:tcPr>
                </a:tc>
              </a:tr>
            </a:tbl>
          </a:graphicData>
        </a:graphic>
      </p:graphicFrame>
      <p:sp>
        <p:nvSpPr>
          <p:cNvPr id="6" name="Rectangle 5"/>
          <p:cNvSpPr/>
          <p:nvPr/>
        </p:nvSpPr>
        <p:spPr>
          <a:xfrm>
            <a:off x="381000" y="5257800"/>
            <a:ext cx="7924800" cy="1200329"/>
          </a:xfrm>
          <a:prstGeom prst="rect">
            <a:avLst/>
          </a:prstGeom>
        </p:spPr>
        <p:txBody>
          <a:bodyPr wrap="square">
            <a:spAutoFit/>
          </a:bodyPr>
          <a:lstStyle/>
          <a:p>
            <a:pPr algn="r" rtl="1"/>
            <a:r>
              <a:rPr lang="ur-PK" sz="3600" b="1" dirty="0">
                <a:solidFill>
                  <a:srgbClr val="002060"/>
                </a:solidFill>
                <a:latin typeface="AlQalam Telenor" pitchFamily="2" charset="-78"/>
                <a:cs typeface="AlQalam Telenor" pitchFamily="2" charset="-78"/>
              </a:rPr>
              <a:t>ادارہ علوم </a:t>
            </a:r>
            <a:r>
              <a:rPr lang="ur-PK" sz="3600" b="1" dirty="0" smtClean="0">
                <a:solidFill>
                  <a:srgbClr val="002060"/>
                </a:solidFill>
                <a:latin typeface="AlQalam Telenor" pitchFamily="2" charset="-78"/>
                <a:cs typeface="AlQalam Telenor" pitchFamily="2" charset="-78"/>
              </a:rPr>
              <a:t>اسلامیہ</a:t>
            </a:r>
            <a:endParaRPr lang="en-US" sz="3600" dirty="0" smtClean="0">
              <a:solidFill>
                <a:srgbClr val="002060"/>
              </a:solidFill>
              <a:latin typeface="AlQalam Telenor" pitchFamily="2" charset="-78"/>
              <a:cs typeface="AlQalam Telenor" pitchFamily="2" charset="-78"/>
            </a:endParaRPr>
          </a:p>
          <a:p>
            <a:pPr algn="r" rtl="1"/>
            <a:r>
              <a:rPr lang="ur-PK" sz="3600" b="1" dirty="0" smtClean="0">
                <a:solidFill>
                  <a:srgbClr val="002060"/>
                </a:solidFill>
                <a:latin typeface="AlQalam Telenor" pitchFamily="2" charset="-78"/>
                <a:cs typeface="AlQalam Telenor" pitchFamily="2" charset="-78"/>
              </a:rPr>
              <a:t>بہاء الدین زکریا  یونیورسٹی ملتان</a:t>
            </a:r>
            <a:endParaRPr lang="en-US" sz="3600" dirty="0">
              <a:solidFill>
                <a:srgbClr val="002060"/>
              </a:solidFill>
              <a:latin typeface="AlQalam Telenor" pitchFamily="2" charset="-78"/>
              <a:cs typeface="AlQalam Telenor" pitchFamily="2" charset="-78"/>
            </a:endParaRPr>
          </a:p>
        </p:txBody>
      </p:sp>
      <p:pic>
        <p:nvPicPr>
          <p:cNvPr id="7" name="Picture 6" descr="C:\Users\sharoz\Pictures\New folder (2)\download.png"/>
          <p:cNvPicPr/>
          <p:nvPr/>
        </p:nvPicPr>
        <p:blipFill>
          <a:blip r:embed="rId2">
            <a:extLst>
              <a:ext uri="{28A0092B-C50C-407E-A947-70E740481C1C}">
                <a14:useLocalDpi xmlns:a14="http://schemas.microsoft.com/office/drawing/2010/main" val="0"/>
              </a:ext>
            </a:extLst>
          </a:blip>
          <a:srcRect/>
          <a:stretch>
            <a:fillRect/>
          </a:stretch>
        </p:blipFill>
        <p:spPr bwMode="auto">
          <a:xfrm>
            <a:off x="762000" y="5273842"/>
            <a:ext cx="2057400" cy="124827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5723629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p:spPr>
        <p:txBody>
          <a:bodyPr/>
          <a:lstStyle/>
          <a:p>
            <a:pPr algn="ctr" rtl="1"/>
            <a:r>
              <a:rPr lang="ar-SA" b="1" dirty="0">
                <a:latin typeface="Jameel Noori Nastaleeq" pitchFamily="2" charset="-78"/>
                <a:cs typeface="Jameel Noori Nastaleeq" pitchFamily="2" charset="-78"/>
              </a:rPr>
              <a:t>مقدمہ</a:t>
            </a:r>
            <a:endParaRPr lang="en-US" b="1" dirty="0">
              <a:latin typeface="Jameel Noori Nastaleeq" pitchFamily="2" charset="-78"/>
              <a:cs typeface="Jameel Noori Nastaleeq" pitchFamily="2" charset="-78"/>
            </a:endParaRPr>
          </a:p>
        </p:txBody>
      </p:sp>
      <p:sp>
        <p:nvSpPr>
          <p:cNvPr id="3" name="Content Placeholder 2"/>
          <p:cNvSpPr>
            <a:spLocks noGrp="1"/>
          </p:cNvSpPr>
          <p:nvPr>
            <p:ph idx="1"/>
          </p:nvPr>
        </p:nvSpPr>
        <p:spPr>
          <a:xfrm>
            <a:off x="457200" y="1600200"/>
            <a:ext cx="8229600" cy="5029200"/>
          </a:xfrm>
        </p:spPr>
        <p:txBody>
          <a:bodyPr>
            <a:normAutofit fontScale="92500" lnSpcReduction="10000"/>
          </a:bodyPr>
          <a:lstStyle/>
          <a:p>
            <a:pPr algn="just" rtl="1"/>
            <a:r>
              <a:rPr lang="ur-PK" dirty="0">
                <a:latin typeface="Jameel Noori Nastaleeq" pitchFamily="2" charset="-78"/>
                <a:cs typeface="Jameel Noori Nastaleeq" pitchFamily="2" charset="-78"/>
              </a:rPr>
              <a:t>یہ قانون فطرت ہے کہ جب ظلمتِ شب اپنی انتہاء کو پہنچتی ہے تو سپیدۂ سحر نمودار ہوتا ہے۔ جب کسی فرعون کا ظلم و استبداد حد سے تجاوز کرتا ہے تو مشیت ایزدی کسی موسیٰ کو جلوہ گر کردیتی ہے۔ تاریخ ایسے واقعات اور ان کے رد عمل کے عبرت انگیز حقائق سے بھری پڑی ہے۔ تاریخ کی اس زنجیر کی ایک کڑی 1857ء کی جنگ آزادی ہے اس جنگ آزادی کی ناکامی نے مسلمانوں کے وجود کے خاتمہ کا خطرہ پیدا کردیا۔ مسلمانوں کا ذوق عمل قصہ پارینہ بن کر رہ گیا۔ اس پر مستزاد یہ کہ افراد ملت احساس ضیاع سے بھی عاری ہوگئے۔ اس کڑے وقت میں مشیت الٰہی نے کئی عظیم ہستیاں پیدا کیں جنہوں نے افرادِملت میں احساس ضیاع پیدا کرنے کے ساتھ ساتھ ان میں حریت کی تڑپ پیدا کرکے انہیں شعور عطا کیا۔ اس طرح فکرونظر کی دنیا میں انہوں نے ایک انقلاب برپا کردیا۔ ان نابغہ روزگار شخصیات میں مولانا مودودیؒ  (م 1979ء) اور علامہ محمد اسدؒ (م 1992ء) کے نام بھی شامل ہیں</a:t>
            </a:r>
            <a:r>
              <a:rPr lang="ur-PK" dirty="0" smtClean="0">
                <a:latin typeface="Jameel Noori Nastaleeq" pitchFamily="2" charset="-78"/>
                <a:cs typeface="Jameel Noori Nastaleeq" pitchFamily="2" charset="-78"/>
              </a:rPr>
              <a:t>۔</a:t>
            </a:r>
            <a:endParaRPr lang="en-US" dirty="0" smtClean="0">
              <a:latin typeface="Jameel Noori Nastaleeq" pitchFamily="2" charset="-78"/>
              <a:cs typeface="Jameel Noori Nastaleeq" pitchFamily="2" charset="-78"/>
            </a:endParaRPr>
          </a:p>
          <a:p>
            <a:pPr algn="just" rtl="1"/>
            <a:r>
              <a:rPr lang="ur-PK" dirty="0">
                <a:latin typeface="Jameel Noori Nastaleeq" pitchFamily="2" charset="-78"/>
                <a:cs typeface="Jameel Noori Nastaleeq" pitchFamily="2" charset="-78"/>
              </a:rPr>
              <a:t>مولانا مودودیؒ اور علامہ محمد اسدؒ ہر دو کا شمار بیسویں صدی کی ان عظیم ہستیوں میں ہوتا ہے جنہوں نے نہ صرف اپنے عہد کو بلکہ آئندہ نسلوں کو بھی متاثر کیا۔ ان مفکرین نے عوام الناس کی نہ صرف فکری رہنمائی کی بلکہ عملی جدوجہد کے میدان میں بھی گراں قدر خدمات انجام دی ہیں۔ ان حضرات کی فکر نے ہماری حیات عملی کے جن گوشوں کو متاثر کیا ان میں ایک اہم شعبہ"تہذیب و تمدن"ہے۔ یہ مفکرین اس لحاظ سے عظیم مفکرانِ اسلام ہیں کہ ان کے تہذیبی افکار نے امت مسلمہ کو اس کے مقام سے روشناس کرانے کے ساتھ ساتھ ایک مکمل اسلامی تہذیب و تمدن کا پورا نقشہ بھی امت کے سامنے پیش کردیا۔</a:t>
            </a:r>
            <a:endParaRPr lang="en-US"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22683696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867400"/>
          </a:xfrm>
        </p:spPr>
        <p:txBody>
          <a:bodyPr>
            <a:normAutofit fontScale="92500"/>
          </a:bodyPr>
          <a:lstStyle/>
          <a:p>
            <a:pPr algn="just" rtl="1"/>
            <a:r>
              <a:rPr lang="ur-PK" dirty="0">
                <a:latin typeface="Jameel Noori Nastaleeq" pitchFamily="2" charset="-78"/>
                <a:cs typeface="Jameel Noori Nastaleeq" pitchFamily="2" charset="-78"/>
              </a:rPr>
              <a:t>مولانا مودودیؒ اور علامہ محمد اسدؒ دونوں ہم عصر ہیں اور ظاہری فرق کے باوجود دونوں شخصیات میں وحدت فکر و عمل کے عناصر بھی موجود ہیں۔ تہذیبی افکار کے حوالے سے عصر حاضر پر گہرے اثرات مرتب کرنے کے لحاظ سے دونوںمفکرین میں ایک حد تک مماثلت بھی پائی جاتی ہے۔ دونوں حضرات امت مسلمہ کے ہمہ گیر انحطاط کے حوالے سے فکر مند ہیں۔ ان کے افکار کا محورو مرکز افراد ملت میں تفکروتدبر کی صلاحیت پیدا کرنا ہے۔ دونوں مفکرین نے اپنی زندگی کا ایک حصہ مسلم معاشرہ کی اسلامی اصولوں پر تشکیل اور اصلاح کے لئے صرف کیا ہے</a:t>
            </a:r>
            <a:r>
              <a:rPr lang="ur-PK" dirty="0" smtClean="0">
                <a:latin typeface="Jameel Noori Nastaleeq" pitchFamily="2" charset="-78"/>
                <a:cs typeface="Jameel Noori Nastaleeq" pitchFamily="2" charset="-78"/>
              </a:rPr>
              <a:t>۔</a:t>
            </a:r>
            <a:endParaRPr lang="en-US" dirty="0" smtClean="0">
              <a:latin typeface="Jameel Noori Nastaleeq" pitchFamily="2" charset="-78"/>
              <a:cs typeface="Jameel Noori Nastaleeq" pitchFamily="2" charset="-78"/>
            </a:endParaRPr>
          </a:p>
          <a:p>
            <a:pPr marL="0" indent="0" algn="r" rtl="1">
              <a:buNone/>
            </a:pPr>
            <a:r>
              <a:rPr lang="ur-PK" sz="3000" b="1" dirty="0">
                <a:solidFill>
                  <a:srgbClr val="0070C0"/>
                </a:solidFill>
                <a:effectLst>
                  <a:outerShdw blurRad="38100" dist="38100" dir="2700000" algn="tl">
                    <a:srgbClr val="000000">
                      <a:alpha val="43137"/>
                    </a:srgbClr>
                  </a:outerShdw>
                </a:effectLst>
                <a:latin typeface="Jameel Noori Nastaleeq" pitchFamily="2" charset="-78"/>
                <a:cs typeface="Jameel Noori Nastaleeq" pitchFamily="2" charset="-78"/>
              </a:rPr>
              <a:t>موضوع کی </a:t>
            </a:r>
            <a:r>
              <a:rPr lang="ur-PK" sz="3000" b="1" dirty="0" smtClean="0">
                <a:solidFill>
                  <a:srgbClr val="0070C0"/>
                </a:solidFill>
                <a:effectLst>
                  <a:outerShdw blurRad="38100" dist="38100" dir="2700000" algn="tl">
                    <a:srgbClr val="000000">
                      <a:alpha val="43137"/>
                    </a:srgbClr>
                  </a:outerShdw>
                </a:effectLst>
                <a:latin typeface="Jameel Noori Nastaleeq" pitchFamily="2" charset="-78"/>
                <a:cs typeface="Jameel Noori Nastaleeq" pitchFamily="2" charset="-78"/>
              </a:rPr>
              <a:t>اہمیت</a:t>
            </a:r>
            <a:r>
              <a:rPr lang="ur-PK" sz="3000" b="1" dirty="0">
                <a:solidFill>
                  <a:srgbClr val="0070C0"/>
                </a:solidFill>
                <a:effectLst>
                  <a:outerShdw blurRad="38100" dist="38100" dir="2700000" algn="tl">
                    <a:srgbClr val="000000">
                      <a:alpha val="43137"/>
                    </a:srgbClr>
                  </a:outerShdw>
                </a:effectLst>
                <a:latin typeface="Jameel Noori Nastaleeq" pitchFamily="2" charset="-78"/>
                <a:cs typeface="Jameel Noori Nastaleeq" pitchFamily="2" charset="-78"/>
              </a:rPr>
              <a:t>:</a:t>
            </a:r>
            <a:endParaRPr lang="en-US" sz="3000" b="1" dirty="0" smtClean="0">
              <a:solidFill>
                <a:srgbClr val="0070C0"/>
              </a:solidFill>
              <a:effectLst>
                <a:outerShdw blurRad="38100" dist="38100" dir="2700000" algn="tl">
                  <a:srgbClr val="000000">
                    <a:alpha val="43137"/>
                  </a:srgbClr>
                </a:outerShdw>
              </a:effectLst>
              <a:latin typeface="Jameel Noori Nastaleeq" pitchFamily="2" charset="-78"/>
              <a:cs typeface="Jameel Noori Nastaleeq" pitchFamily="2" charset="-78"/>
            </a:endParaRPr>
          </a:p>
          <a:p>
            <a:pPr algn="just" rtl="1"/>
            <a:r>
              <a:rPr lang="ur-PK" dirty="0">
                <a:latin typeface="Jameel Noori Nastaleeq" pitchFamily="2" charset="-78"/>
                <a:cs typeface="Jameel Noori Nastaleeq" pitchFamily="2" charset="-78"/>
              </a:rPr>
              <a:t>اسلام فرد کے ساتھ ساتھ معاشرتی و سماجی اصلاح پر بھی زور دیتا ہے۔ چنانچہ اسلام کی اس روح کو سامنے رکھتے ہوئے    مولانا مودودیؒ   ؒ اور علامہ محمد اسدؒؒ نے بیسویں صدی میں ان مقاصد کے حصول کےلئے اپنی تمام تر صلاحیتوں کو استعمال کیا ہے۔ نیز اپنی انقلابی سوچ اور افکار کے ذریعے برصغیر کے مسلمانوں کی انفرادی تشکیل کے ساتھ ساتھ معاشرتی تشکیل کی بھر پور کوشش کی ہے۔ چونکہ دونوں کا زمانہ ایک ہے۔ لہٰذا یہ امر اہمیت کا حامل ہے کہ ایک خاندانی مسلم مفکر اور ایک نو مسلم معاشرتی مفکر کے سماجی تشکیل کے حوالے سے تہذیبی نظریات کا تقابلی مطالعہ کرتے ہوئے اس حقیقت تک رسائی حاصل کی جائے کہ برصغیر کے ایک انقلابی مفکر مولانا مودودیؒ اور یورپی ماحول میں پروان چڑھنے والے نو مسلم تہذیبی مفکر علامہ محمد اسدؒؒ کس طرح کی اسلامی تہذیب و تمدن کی تشکیل کے خواہاں ہیں  نیز دونوں کے تہذیبی نظریات میں کس قدر مماثلت و مشابہت پائی جاتی ہے اور عہد حاضر میں دونوں مفکرین میں سے کس کے اثرات امت مسلمہ پر زیادہ ہیں۔</a:t>
            </a:r>
            <a:endParaRPr lang="en-US"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35322756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943600"/>
          </a:xfrm>
        </p:spPr>
        <p:txBody>
          <a:bodyPr>
            <a:normAutofit/>
          </a:bodyPr>
          <a:lstStyle/>
          <a:p>
            <a:pPr marL="0" indent="0" algn="r" rtl="1">
              <a:buNone/>
            </a:pPr>
            <a:r>
              <a:rPr lang="ur-PK" sz="2800" b="1" dirty="0">
                <a:solidFill>
                  <a:srgbClr val="0070C0"/>
                </a:solidFill>
                <a:effectLst>
                  <a:outerShdw blurRad="38100" dist="38100" dir="2700000" algn="tl">
                    <a:srgbClr val="000000">
                      <a:alpha val="43137"/>
                    </a:srgbClr>
                  </a:outerShdw>
                </a:effectLst>
                <a:latin typeface="Jameel Noori Nastaleeq" pitchFamily="2" charset="-78"/>
                <a:cs typeface="Jameel Noori Nastaleeq" pitchFamily="2" charset="-78"/>
              </a:rPr>
              <a:t>مولانا مودودیؒ  پرسابقہ تحقیقی کام کا </a:t>
            </a:r>
            <a:r>
              <a:rPr lang="ur-PK" sz="2800" b="1" dirty="0" smtClean="0">
                <a:solidFill>
                  <a:srgbClr val="0070C0"/>
                </a:solidFill>
                <a:effectLst>
                  <a:outerShdw blurRad="38100" dist="38100" dir="2700000" algn="tl">
                    <a:srgbClr val="000000">
                      <a:alpha val="43137"/>
                    </a:srgbClr>
                  </a:outerShdw>
                </a:effectLst>
                <a:latin typeface="Jameel Noori Nastaleeq" pitchFamily="2" charset="-78"/>
                <a:cs typeface="Jameel Noori Nastaleeq" pitchFamily="2" charset="-78"/>
              </a:rPr>
              <a:t>جائزہ:</a:t>
            </a:r>
            <a:endParaRPr lang="en-US" sz="2800" b="1" dirty="0">
              <a:solidFill>
                <a:srgbClr val="0070C0"/>
              </a:solidFill>
              <a:effectLst>
                <a:outerShdw blurRad="38100" dist="38100" dir="2700000" algn="tl">
                  <a:srgbClr val="000000">
                    <a:alpha val="43137"/>
                  </a:srgbClr>
                </a:outerShdw>
              </a:effectLst>
              <a:latin typeface="Jameel Noori Nastaleeq" pitchFamily="2" charset="-78"/>
              <a:cs typeface="Jameel Noori Nastaleeq" pitchFamily="2" charset="-78"/>
            </a:endParaRPr>
          </a:p>
          <a:p>
            <a:pPr algn="just" rtl="1"/>
            <a:r>
              <a:rPr lang="ur-PK" sz="2000" dirty="0">
                <a:latin typeface="Jameel Noori Nastaleeq" pitchFamily="2" charset="-78"/>
                <a:cs typeface="Jameel Noori Nastaleeq" pitchFamily="2" charset="-78"/>
              </a:rPr>
              <a:t>سید ابوالاعلی مودودیؒ   ایک ممتاز اسلامی مفکر ہیں اور برصغیر میں ان کی تحریک خالص اسلامی احیاء کی تحریک ہے مولانا کی افکار و نظریات کا مطالعہ متعدد محققین نے کیا ہے یہاں کچھ نمایاں  شخصیات کا ذکر کیا جاتا ہے جنہوں نے مولانا مودودیؒ    کے نظریات پر اہم کام کیا ہے۔ </a:t>
            </a:r>
            <a:endParaRPr lang="en-US" sz="2000" dirty="0">
              <a:latin typeface="Jameel Noori Nastaleeq" pitchFamily="2" charset="-78"/>
              <a:cs typeface="Jameel Noori Nastaleeq" pitchFamily="2" charset="-78"/>
            </a:endParaRPr>
          </a:p>
          <a:p>
            <a:pPr marL="0" indent="0" algn="just" rtl="1">
              <a:buNone/>
            </a:pPr>
            <a:r>
              <a:rPr lang="ur-PK" sz="2000" b="1" dirty="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rPr>
              <a:t>1 - سید ولی رضا نصر </a:t>
            </a:r>
            <a:endParaRPr lang="en-US" sz="2000" b="1" dirty="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endParaRPr>
          </a:p>
          <a:p>
            <a:pPr algn="just" rtl="1"/>
            <a:r>
              <a:rPr lang="ur-PK" sz="2000" dirty="0">
                <a:latin typeface="Jameel Noori Nastaleeq" pitchFamily="2" charset="-78"/>
                <a:cs typeface="Jameel Noori Nastaleeq" pitchFamily="2" charset="-78"/>
              </a:rPr>
              <a:t>سید ولی رضا نصر ایک معروف سکالر ہیں جنہوں نے مولانا مودودیؒ    کے افکار پر تفصیلی کام کیا ہے انہوں نے مودودیؒ  کی تحریروں کا تجزیہ کرتے ہوئے یہ دکھایا کہ کس طرح ان کے نظریات نے اسلامی تحریکات کو متاثر کیا خصوصا جنوبی ایشیا میں سید نصر نے اپنی کتاب"</a:t>
            </a:r>
            <a:r>
              <a:rPr lang="en-US" sz="2000" dirty="0">
                <a:latin typeface="Jameel Noori Nastaleeq" pitchFamily="2" charset="-78"/>
                <a:cs typeface="Jameel Noori Nastaleeq" pitchFamily="2" charset="-78"/>
              </a:rPr>
              <a:t>The vanguard of the Islamic Revolution</a:t>
            </a:r>
            <a:r>
              <a:rPr lang="ur-PK" sz="2000" dirty="0">
                <a:latin typeface="Jameel Noori Nastaleeq" pitchFamily="2" charset="-78"/>
                <a:cs typeface="Jameel Noori Nastaleeq" pitchFamily="2" charset="-78"/>
              </a:rPr>
              <a:t>"  میں مودودیؒ    کی فکر کو اسلام کے سیاسی تناظر میں پیش کیا ہے انہوں نے بتایا ہے کہ کس طرح مودودیؒ    نے اسلامی ریاست کے تصور کو فروغ دیا اور اسلامی قانون کی تشکیل میں اہم کردار ادا کیا ۔</a:t>
            </a:r>
            <a:endParaRPr lang="en-US" sz="2000" dirty="0">
              <a:latin typeface="Jameel Noori Nastaleeq" pitchFamily="2" charset="-78"/>
              <a:cs typeface="Jameel Noori Nastaleeq" pitchFamily="2" charset="-78"/>
            </a:endParaRPr>
          </a:p>
          <a:p>
            <a:pPr algn="just" rtl="1"/>
            <a:r>
              <a:rPr lang="ur-PK" sz="2000" dirty="0">
                <a:latin typeface="Jameel Noori Nastaleeq" pitchFamily="2" charset="-78"/>
                <a:cs typeface="Jameel Noori Nastaleeq" pitchFamily="2" charset="-78"/>
              </a:rPr>
              <a:t>سید نصر نے اپنی تحقیق میں یہ بھی دکھایا ہے کہ مولانا مودودیؒ    نے جدیدیت اور اسلامی روایات کے درمیان کس طرح توازن قائم کرنے کی کوشش کی انہوں نے مودودیؒ    کی تحریروں میں موجود مختلف نظریات کو جدید مسلم سوسائٹیز کے تناظر میں پیش کیا ہے اور ان کے اثرات کا تجزیہ کیا ہے جس سے معاصر اسلامی فکر کے مطالعے میں ایک قیمتی اضافہ ہوا ہے</a:t>
            </a:r>
            <a:r>
              <a:rPr lang="ur-PK" sz="2000" dirty="0" smtClean="0">
                <a:latin typeface="Jameel Noori Nastaleeq" pitchFamily="2" charset="-78"/>
                <a:cs typeface="Jameel Noori Nastaleeq" pitchFamily="2" charset="-78"/>
              </a:rPr>
              <a:t>۔</a:t>
            </a:r>
            <a:endParaRPr lang="en-US" sz="2000" dirty="0" smtClean="0">
              <a:latin typeface="Jameel Noori Nastaleeq" pitchFamily="2" charset="-78"/>
              <a:cs typeface="Jameel Noori Nastaleeq" pitchFamily="2" charset="-78"/>
            </a:endParaRPr>
          </a:p>
          <a:p>
            <a:pPr marL="0" indent="0" algn="just" rtl="1">
              <a:buNone/>
            </a:pPr>
            <a:r>
              <a:rPr lang="ur-PK" sz="2000" b="1" dirty="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rPr>
              <a:t>2- خورشید احمد </a:t>
            </a:r>
            <a:endParaRPr lang="en-US" sz="2000" b="1" dirty="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endParaRPr>
          </a:p>
          <a:p>
            <a:pPr algn="just" rtl="1"/>
            <a:r>
              <a:rPr lang="ur-PK" sz="2000" dirty="0">
                <a:latin typeface="Jameel Noori Nastaleeq" pitchFamily="2" charset="-78"/>
                <a:cs typeface="Jameel Noori Nastaleeq" pitchFamily="2" charset="-78"/>
              </a:rPr>
              <a:t>خورشید احمد ایک عظیم محقق اور ماہر اقتصا دیات ہیں جنہوں نے مولانا مودودیؒ    کی افکار و نظریات کا گہرائی سے تجزیہ کیا ہے انہوں نے خاص طور پر اقتصادیات اور سماجی انصاف کے حوالے سے مولانا مودودیؒ    کے افکار پر وسیع پیمانے پر لکھا ہے خورشید احمد کی تحقیق کی خاص بات یہ ہے کہ وہ مولانا مودودیؒ    کے اسلامی اقتصادی نظام کے تصور کو نمایاں کرتے ہیں جو </a:t>
            </a:r>
            <a:r>
              <a:rPr lang="en-US" sz="2000" dirty="0">
                <a:latin typeface="Jameel Noori Nastaleeq" pitchFamily="2" charset="-78"/>
                <a:cs typeface="Jameel Noori Nastaleeq" pitchFamily="2" charset="-78"/>
              </a:rPr>
              <a:t>Capitalism</a:t>
            </a:r>
            <a:r>
              <a:rPr lang="ur-PK" sz="2000" dirty="0">
                <a:latin typeface="Jameel Noori Nastaleeq" pitchFamily="2" charset="-78"/>
                <a:cs typeface="Jameel Noori Nastaleeq" pitchFamily="2" charset="-78"/>
              </a:rPr>
              <a:t> اور </a:t>
            </a:r>
            <a:r>
              <a:rPr lang="en-US" sz="2000" dirty="0">
                <a:latin typeface="Jameel Noori Nastaleeq" pitchFamily="2" charset="-78"/>
                <a:cs typeface="Jameel Noori Nastaleeq" pitchFamily="2" charset="-78"/>
              </a:rPr>
              <a:t>Socialism</a:t>
            </a:r>
            <a:r>
              <a:rPr lang="ur-PK" sz="2000" dirty="0">
                <a:latin typeface="Jameel Noori Nastaleeq" pitchFamily="2" charset="-78"/>
                <a:cs typeface="Jameel Noori Nastaleeq" pitchFamily="2" charset="-78"/>
              </a:rPr>
              <a:t> دونوں سے مختلف ہے نیز خورشید احمد نے اسلامی ثقافت کی ترویج کے حوالے سے مولانا مودودیؒ    کے نظریات کو زندہ رکھنے اور عالمی سطح پر نافذ کرنے کی کوشش کی</a:t>
            </a:r>
            <a:r>
              <a:rPr lang="ur-PK" sz="2000" dirty="0" smtClean="0">
                <a:latin typeface="Jameel Noori Nastaleeq" pitchFamily="2" charset="-78"/>
                <a:cs typeface="Jameel Noori Nastaleeq" pitchFamily="2" charset="-78"/>
              </a:rPr>
              <a:t>۔</a:t>
            </a:r>
            <a:endParaRPr lang="en-US" sz="2000"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353227564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5334000"/>
          </a:xfrm>
        </p:spPr>
        <p:txBody>
          <a:bodyPr>
            <a:normAutofit/>
          </a:bodyPr>
          <a:lstStyle/>
          <a:p>
            <a:pPr marL="0" indent="0" algn="just" rtl="1">
              <a:buNone/>
            </a:pPr>
            <a:r>
              <a:rPr lang="ur-PK" sz="2200" b="1" dirty="0" smtClean="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rPr>
              <a:t>3-  </a:t>
            </a:r>
            <a:r>
              <a:rPr lang="ur-PK" sz="2200" b="1" dirty="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rPr>
              <a:t>اقبال اے </a:t>
            </a:r>
            <a:r>
              <a:rPr lang="ur-PK" sz="2200" b="1" dirty="0" smtClean="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rPr>
              <a:t>انصاری</a:t>
            </a:r>
            <a:endParaRPr lang="en-US" sz="2200" b="1" dirty="0" smtClean="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endParaRPr>
          </a:p>
          <a:p>
            <a:pPr algn="just" rtl="1"/>
            <a:r>
              <a:rPr lang="en-US" sz="2200" dirty="0">
                <a:latin typeface="Jameel Noori Nastaleeq" pitchFamily="2" charset="-78"/>
                <a:cs typeface="Jameel Noori Nastaleeq" pitchFamily="2" charset="-78"/>
              </a:rPr>
              <a:t> </a:t>
            </a:r>
            <a:r>
              <a:rPr lang="ur-PK" sz="2200" dirty="0">
                <a:latin typeface="Jameel Noori Nastaleeq" pitchFamily="2" charset="-78"/>
                <a:cs typeface="Jameel Noori Nastaleeq" pitchFamily="2" charset="-78"/>
              </a:rPr>
              <a:t>اقبال اے انصاری نے مودودیؒ    کی سیاسی فکر پر تفصیل سے مطالعہ کیا ہے۔  انصاری کا تجزیہ مودودیؒ    کے نظریے کے سیاسی اور قانونی پہلوؤں پر مرکوز ہے۔ وہ یہ جائزہ لیتے ہیں کہ کس طرح مودودیؒ    کا وژن  مسلمانوں کی سیاست پر اثر انداز ہوا، خاص طور پر ہندوستان اور پاکستان میں</a:t>
            </a:r>
            <a:r>
              <a:rPr lang="ur-PK" sz="2200" dirty="0" smtClean="0">
                <a:latin typeface="Jameel Noori Nastaleeq" pitchFamily="2" charset="-78"/>
                <a:cs typeface="Jameel Noori Nastaleeq" pitchFamily="2" charset="-78"/>
              </a:rPr>
              <a:t>۔</a:t>
            </a:r>
            <a:endParaRPr lang="en-US" sz="2200" dirty="0" smtClean="0">
              <a:latin typeface="Jameel Noori Nastaleeq" pitchFamily="2" charset="-78"/>
              <a:cs typeface="Jameel Noori Nastaleeq" pitchFamily="2" charset="-78"/>
            </a:endParaRPr>
          </a:p>
          <a:p>
            <a:pPr marL="0" indent="0" algn="just" rtl="1">
              <a:buNone/>
            </a:pPr>
            <a:r>
              <a:rPr lang="ur-PK" sz="2200" b="1" dirty="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rPr>
              <a:t>4-                محمد کمال </a:t>
            </a:r>
            <a:r>
              <a:rPr lang="ur-PK" sz="2200" b="1" dirty="0" smtClean="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rPr>
              <a:t>الدین</a:t>
            </a:r>
            <a:endParaRPr lang="en-US" sz="2200" b="1" dirty="0" smtClean="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endParaRPr>
          </a:p>
          <a:p>
            <a:pPr algn="just" rtl="1"/>
            <a:r>
              <a:rPr lang="ur-PK" sz="2200" dirty="0">
                <a:latin typeface="Jameel Noori Nastaleeq" pitchFamily="2" charset="-78"/>
                <a:cs typeface="Jameel Noori Nastaleeq" pitchFamily="2" charset="-78"/>
              </a:rPr>
              <a:t>محمد کمال الدین اسلامی معاشرتی اور سیاسی فکر پر کام کرنے والے ایک معروف محقق ہیں۔  کمال الدین نے مودودیؒ    کے نظریات کو اسلامی قانون اور سیاست کے تناظر میں تفصیل سے بیان کیا ہے۔ ان کا کام اسلامی ریاست کے تصور اور اس کے عملی چیلنجز پر روشنی ڈالتا ہے</a:t>
            </a:r>
            <a:r>
              <a:rPr lang="ur-PK" sz="2200" dirty="0" smtClean="0">
                <a:latin typeface="Jameel Noori Nastaleeq" pitchFamily="2" charset="-78"/>
                <a:cs typeface="Jameel Noori Nastaleeq" pitchFamily="2" charset="-78"/>
              </a:rPr>
              <a:t>۔</a:t>
            </a:r>
            <a:endParaRPr lang="en-US" sz="2200" dirty="0" smtClean="0">
              <a:latin typeface="Jameel Noori Nastaleeq" pitchFamily="2" charset="-78"/>
              <a:cs typeface="Jameel Noori Nastaleeq" pitchFamily="2" charset="-78"/>
            </a:endParaRPr>
          </a:p>
          <a:p>
            <a:pPr marL="0" indent="0" algn="just" rtl="1">
              <a:buNone/>
            </a:pPr>
            <a:r>
              <a:rPr lang="ur-PK" sz="2200" b="1" dirty="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rPr>
              <a:t>5-                     طارق رمضان</a:t>
            </a:r>
            <a:endParaRPr lang="en-US" sz="2200" b="1" dirty="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endParaRPr>
          </a:p>
          <a:p>
            <a:pPr algn="just" rtl="1"/>
            <a:r>
              <a:rPr lang="ur-PK" sz="2200" dirty="0">
                <a:latin typeface="Jameel Noori Nastaleeq" pitchFamily="2" charset="-78"/>
                <a:cs typeface="Jameel Noori Nastaleeq" pitchFamily="2" charset="-78"/>
              </a:rPr>
              <a:t>طارق رمضان ایک سوئس اسلامی عالم اور فلسفی ہیں۔ رمضان نے مودودیؒ    کے سماجی خیالات کو حکومت، شہریت اور تمدن پر نظر رکھتے ہوئے تجزیہ کیا۔ ان کا  کام مودودیؒ    کے خیالات کو جدید مسئلوں کے ساتھ منسلک کرتا ہے اور ان کے نظریات کو اسلام اور جمہوریت کے ساتھ منسلک کرتا ہے۔</a:t>
            </a:r>
            <a:endParaRPr lang="en-US" sz="2200"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35322756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638800"/>
          </a:xfrm>
        </p:spPr>
        <p:txBody>
          <a:bodyPr>
            <a:normAutofit fontScale="92500"/>
          </a:bodyPr>
          <a:lstStyle/>
          <a:p>
            <a:pPr marL="0" indent="0" algn="r" rtl="1">
              <a:buNone/>
            </a:pPr>
            <a:r>
              <a:rPr lang="ur-PK" sz="3000" b="1" dirty="0">
                <a:solidFill>
                  <a:srgbClr val="0070C0"/>
                </a:solidFill>
                <a:effectLst>
                  <a:outerShdw blurRad="38100" dist="38100" dir="2700000" algn="tl">
                    <a:srgbClr val="000000">
                      <a:alpha val="43137"/>
                    </a:srgbClr>
                  </a:outerShdw>
                </a:effectLst>
                <a:latin typeface="Jameel Noori Nastaleeq" pitchFamily="2" charset="-78"/>
                <a:cs typeface="Jameel Noori Nastaleeq" pitchFamily="2" charset="-78"/>
              </a:rPr>
              <a:t>علامہ اسدؒ پر سابقہ تحقیقی کام کا </a:t>
            </a:r>
            <a:r>
              <a:rPr lang="ur-PK" sz="3000" b="1" dirty="0" smtClean="0">
                <a:solidFill>
                  <a:srgbClr val="0070C0"/>
                </a:solidFill>
                <a:effectLst>
                  <a:outerShdw blurRad="38100" dist="38100" dir="2700000" algn="tl">
                    <a:srgbClr val="000000">
                      <a:alpha val="43137"/>
                    </a:srgbClr>
                  </a:outerShdw>
                </a:effectLst>
                <a:latin typeface="Jameel Noori Nastaleeq" pitchFamily="2" charset="-78"/>
                <a:cs typeface="Jameel Noori Nastaleeq" pitchFamily="2" charset="-78"/>
              </a:rPr>
              <a:t>جائزہ:</a:t>
            </a:r>
            <a:endParaRPr lang="en-US" sz="3000" b="1" dirty="0">
              <a:solidFill>
                <a:srgbClr val="0070C0"/>
              </a:solidFill>
              <a:effectLst>
                <a:outerShdw blurRad="38100" dist="38100" dir="2700000" algn="tl">
                  <a:srgbClr val="000000">
                    <a:alpha val="43137"/>
                  </a:srgbClr>
                </a:outerShdw>
              </a:effectLst>
              <a:latin typeface="Jameel Noori Nastaleeq" pitchFamily="2" charset="-78"/>
              <a:cs typeface="Jameel Noori Nastaleeq" pitchFamily="2" charset="-78"/>
            </a:endParaRPr>
          </a:p>
          <a:p>
            <a:pPr algn="just" rtl="1"/>
            <a:r>
              <a:rPr lang="ar-SA" dirty="0">
                <a:latin typeface="Jameel Noori Nastaleeq" pitchFamily="2" charset="-78"/>
                <a:cs typeface="Jameel Noori Nastaleeq" pitchFamily="2" charset="-78"/>
              </a:rPr>
              <a:t>محمد اسدؒبیسویں صدی کے ایک بااثر اسلامی عالم، مصنف، اور سفارتکار تھے جنہوں نے اسلامی فکر میں اہم کردار ادا کیا۔ ان کے خیالات اور سماجی نظریات پر مختلف علماء اور مفکرین نے کام کیا ہے۔ یہاں کچھ اہم شخصیات ہیں جنہوں نے محمد اسدؒ کے سماجی خیالات پر کام کیا یا ان پر بحث کی ہے</a:t>
            </a:r>
            <a:r>
              <a:rPr lang="ar-SA" dirty="0" smtClean="0">
                <a:latin typeface="Jameel Noori Nastaleeq" pitchFamily="2" charset="-78"/>
                <a:cs typeface="Jameel Noori Nastaleeq" pitchFamily="2" charset="-78"/>
              </a:rPr>
              <a:t>۔</a:t>
            </a:r>
            <a:endParaRPr lang="en-US" dirty="0" smtClean="0">
              <a:latin typeface="Jameel Noori Nastaleeq" pitchFamily="2" charset="-78"/>
              <a:cs typeface="Jameel Noori Nastaleeq" pitchFamily="2" charset="-78"/>
            </a:endParaRPr>
          </a:p>
          <a:p>
            <a:pPr marL="0" indent="0" algn="just" rtl="1">
              <a:buNone/>
            </a:pPr>
            <a:r>
              <a:rPr lang="ar-SA" b="1" dirty="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rPr>
              <a:t>1-                       سید حسین </a:t>
            </a:r>
            <a:r>
              <a:rPr lang="ar-SA" b="1" dirty="0" smtClean="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rPr>
              <a:t>نصر</a:t>
            </a:r>
            <a:endParaRPr lang="en-US" b="1" dirty="0" smtClean="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endParaRPr>
          </a:p>
          <a:p>
            <a:pPr algn="just" rtl="1"/>
            <a:r>
              <a:rPr lang="ar-SA" dirty="0">
                <a:latin typeface="Jameel Noori Nastaleeq" pitchFamily="2" charset="-78"/>
                <a:cs typeface="Jameel Noori Nastaleeq" pitchFamily="2" charset="-78"/>
              </a:rPr>
              <a:t>ایرانی فلسفی اور اسلامی مطالعات کے عالم سید حسین نصر نے اپنی وسیع تحریروں میں اسلامی فلسفہ اور جدیدیت کے حوالے سے اسدؒ کے خیالات پر بحث کی ہے۔ نصر نے اسلامی دانشورانہ روایات کی بحالی میں اسدؒ کے کردار اور جدید سیاق و سباق میں قرآن کی تشریح میں ان کی شراکت پر روشنی ڈالی ہے۔ نصر کا کام اکثر روایتی اسلامی اسکا</a:t>
            </a:r>
            <a:r>
              <a:rPr lang="ur-PK" dirty="0">
                <a:latin typeface="Jameel Noori Nastaleeq" pitchFamily="2" charset="-78"/>
                <a:cs typeface="Jameel Noori Nastaleeq" pitchFamily="2" charset="-78"/>
              </a:rPr>
              <a:t>لرز  </a:t>
            </a:r>
            <a:r>
              <a:rPr lang="ar-SA" dirty="0">
                <a:latin typeface="Jameel Noori Nastaleeq" pitchFamily="2" charset="-78"/>
                <a:cs typeface="Jameel Noori Nastaleeq" pitchFamily="2" charset="-78"/>
              </a:rPr>
              <a:t>کو جدیدیت پسند نظریات کے ساتھ تقابل کرتا ہے، جس میں اسدؒ کے خیالات بھی شامل ہیں</a:t>
            </a:r>
            <a:r>
              <a:rPr lang="ar-SA" dirty="0" smtClean="0">
                <a:latin typeface="Jameel Noori Nastaleeq" pitchFamily="2" charset="-78"/>
                <a:cs typeface="Jameel Noori Nastaleeq" pitchFamily="2" charset="-78"/>
              </a:rPr>
              <a:t>۔</a:t>
            </a:r>
            <a:endParaRPr lang="en-US" dirty="0" smtClean="0">
              <a:latin typeface="Jameel Noori Nastaleeq" pitchFamily="2" charset="-78"/>
              <a:cs typeface="Jameel Noori Nastaleeq" pitchFamily="2" charset="-78"/>
            </a:endParaRPr>
          </a:p>
          <a:p>
            <a:pPr marL="0" indent="0" algn="just" rtl="1">
              <a:buNone/>
            </a:pPr>
            <a:r>
              <a:rPr lang="ar-SA" b="1" dirty="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rPr>
              <a:t>2- ۱ حمد </a:t>
            </a:r>
            <a:r>
              <a:rPr lang="ar-SA" b="1" dirty="0" smtClean="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rPr>
              <a:t>شفاعت</a:t>
            </a:r>
            <a:endParaRPr lang="en-US" b="1" dirty="0" smtClean="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endParaRPr>
          </a:p>
          <a:p>
            <a:pPr algn="just" rtl="1"/>
            <a:r>
              <a:rPr lang="ar-SA" dirty="0">
                <a:latin typeface="Jameel Noori Nastaleeq" pitchFamily="2" charset="-78"/>
                <a:cs typeface="Jameel Noori Nastaleeq" pitchFamily="2" charset="-78"/>
              </a:rPr>
              <a:t>ایک اسلامی اسکالر، احمد شفاعت نے اسدؒ    کی قرآن کی تشریح اور ان کے وسیع سماجی خیالات کے بارے میں لکھا ہے۔  شفاعت اسدؒ   کی تفسیر قرآن میں شراکت اور عصری مسائل کو قرآن کے تناظر سے حل کرنے کی کوششوں پر زور دیتے ہیں۔ انہوں نے معاشرتی انصاف، حکمرانی، اور اخلاقی زندگی کے حوالے سے اسدؒ کے نقطہ نظر کا مطالعہ کیا ہے۔</a:t>
            </a:r>
            <a:endParaRPr lang="en-US"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35322756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638800"/>
          </a:xfrm>
        </p:spPr>
        <p:txBody>
          <a:bodyPr>
            <a:normAutofit fontScale="92500" lnSpcReduction="10000"/>
          </a:bodyPr>
          <a:lstStyle/>
          <a:p>
            <a:pPr marL="0" indent="0" algn="just" rtl="1">
              <a:buNone/>
            </a:pPr>
            <a:r>
              <a:rPr lang="en-US" b="1" dirty="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rPr>
              <a:t>3</a:t>
            </a:r>
            <a:r>
              <a:rPr lang="ur-PK" b="1" dirty="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rPr>
              <a:t>-  </a:t>
            </a:r>
            <a:r>
              <a:rPr lang="ar-SA" b="1" dirty="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rPr>
              <a:t>فضل الرحمان</a:t>
            </a:r>
            <a:endParaRPr lang="en-US" b="1" dirty="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endParaRPr>
          </a:p>
          <a:p>
            <a:pPr algn="just" rtl="1"/>
            <a:r>
              <a:rPr lang="ar-SA" dirty="0">
                <a:latin typeface="Jameel Noori Nastaleeq" pitchFamily="2" charset="-78"/>
                <a:cs typeface="Jameel Noori Nastaleeq" pitchFamily="2" charset="-78"/>
              </a:rPr>
              <a:t>ایک ممتاز پاکستانی اسلامی اسکالر اور فلسفی، فضل الرحمن نے اسلامی اصلاحات اور جدیدیت پر اپنی وسیع تحریروں میں اسدؒ کے خیالات پر بحث کی ہے۔ انہوں نے اسدؒ کے اس نقطہ نظر کی تعریف کی کہ وہ اسلامی تعلیمات کی تشریح معاصر سماجی مسائل اور اخلاقی الجھنوں کے تناظر میں کرتے ہیں۔</a:t>
            </a:r>
            <a:endParaRPr lang="en-US" dirty="0">
              <a:latin typeface="Jameel Noori Nastaleeq" pitchFamily="2" charset="-78"/>
              <a:cs typeface="Jameel Noori Nastaleeq" pitchFamily="2" charset="-78"/>
            </a:endParaRPr>
          </a:p>
          <a:p>
            <a:pPr marL="0" indent="0" algn="just" rtl="1">
              <a:buNone/>
            </a:pPr>
            <a:r>
              <a:rPr lang="en-US" b="1" dirty="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rPr>
              <a:t>4</a:t>
            </a:r>
            <a:r>
              <a:rPr lang="ur-PK" b="1" dirty="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rPr>
              <a:t>- علی</a:t>
            </a:r>
            <a:r>
              <a:rPr lang="ar-SA" b="1" dirty="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rPr>
              <a:t> اے مزروعی</a:t>
            </a:r>
            <a:endParaRPr lang="en-US" b="1" dirty="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endParaRPr>
          </a:p>
          <a:p>
            <a:pPr algn="just" rtl="1"/>
            <a:r>
              <a:rPr lang="ar-SA" dirty="0">
                <a:latin typeface="Jameel Noori Nastaleeq" pitchFamily="2" charset="-78"/>
                <a:cs typeface="Jameel Noori Nastaleeq" pitchFamily="2" charset="-78"/>
              </a:rPr>
              <a:t>امریکی سیاسی سائنسدان اور افریقی مطالعات کے اسکالر، علی اے مزروعی نے اسلام اور سیاست پر اپنی وسیع تحریروں میں اسدؒ کے سماجی اور سیاسی خیالات پر بحث کی ہے۔ مزروعی نے جدید اسلامی سیاسی نظریات کی ترقی پر اسدؒ کے اثرات کا ذکر کیا ہے۔</a:t>
            </a:r>
            <a:endParaRPr lang="en-US" dirty="0">
              <a:latin typeface="Jameel Noori Nastaleeq" pitchFamily="2" charset="-78"/>
              <a:cs typeface="Jameel Noori Nastaleeq" pitchFamily="2" charset="-78"/>
            </a:endParaRPr>
          </a:p>
          <a:p>
            <a:pPr marL="0" indent="0" algn="just" rtl="1">
              <a:buNone/>
            </a:pPr>
            <a:r>
              <a:rPr lang="en-US" b="1" dirty="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rPr>
              <a:t>5</a:t>
            </a:r>
            <a:r>
              <a:rPr lang="ar-SA" b="1" dirty="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rPr>
              <a:t>- سہیل ایچ ہاشمی</a:t>
            </a:r>
            <a:endParaRPr lang="en-US" b="1" dirty="0">
              <a:solidFill>
                <a:srgbClr val="002060"/>
              </a:solidFill>
              <a:effectLst>
                <a:outerShdw blurRad="38100" dist="38100" dir="2700000" algn="tl">
                  <a:srgbClr val="000000">
                    <a:alpha val="43137"/>
                  </a:srgbClr>
                </a:outerShdw>
              </a:effectLst>
              <a:latin typeface="Jameel Noori Nastaleeq" pitchFamily="2" charset="-78"/>
              <a:cs typeface="Jameel Noori Nastaleeq" pitchFamily="2" charset="-78"/>
            </a:endParaRPr>
          </a:p>
          <a:p>
            <a:pPr algn="just" rtl="1"/>
            <a:r>
              <a:rPr lang="ar-SA" dirty="0">
                <a:latin typeface="Jameel Noori Nastaleeq" pitchFamily="2" charset="-78"/>
                <a:cs typeface="Jameel Noori Nastaleeq" pitchFamily="2" charset="-78"/>
              </a:rPr>
              <a:t>بین الاقوامی تعلقات اور اسلامی اخلاقیات کے امریکی اسکالر، سہیل ایچ ہاشمی نے اسلامی حکمرانی اور اخلاقیات پر اسدؒ کے خیالات پر بحث کی ہے۔ ہاشمی نے اسلامی سیاسی نظریہ اور اخلاقی فلسفے پر اسدؒ کی شراکتوں کو اجاگر کیا ہے۔</a:t>
            </a:r>
            <a:endParaRPr lang="en-US" dirty="0">
              <a:latin typeface="Jameel Noori Nastaleeq" pitchFamily="2" charset="-78"/>
              <a:cs typeface="Jameel Noori Nastaleeq" pitchFamily="2" charset="-78"/>
            </a:endParaRPr>
          </a:p>
          <a:p>
            <a:pPr marL="0" indent="0" algn="just" rtl="1">
              <a:buNone/>
            </a:pPr>
            <a:r>
              <a:rPr lang="ar-SA" dirty="0">
                <a:latin typeface="Jameel Noori Nastaleeq" pitchFamily="2" charset="-78"/>
                <a:cs typeface="Jameel Noori Nastaleeq" pitchFamily="2" charset="-78"/>
              </a:rPr>
              <a:t>مذکورہ بالا اسکالرز مولانا مودودیؒ    اور علامہ اسدؒ کے سیاسی و معاشی خیالات کو سمجھنے میں اہم کردار ادا کر چکے ہیں۔ لیکن دونوں مفکرین کے سماجی اور تہذیبی نظریات پر تفصیلی روشنی کسی نے نہیں ڈالی اور نہ ہی ان کے تہذیبی و معاشرتی افکار کا تقابلی جائزہ کسی نے پیش کیا ہے جو کہ ایک تحقیق طلب موضوع ہے۔ لہذا میں اس موضوع کی اہمیت کو سمجھتے ہوئے اس پر کام کرنا چاہتا ہوں۔</a:t>
            </a:r>
            <a:endParaRPr lang="en-US"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35322756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638800"/>
          </a:xfrm>
        </p:spPr>
        <p:txBody>
          <a:bodyPr>
            <a:normAutofit/>
          </a:bodyPr>
          <a:lstStyle/>
          <a:p>
            <a:pPr marL="0" indent="0" algn="r" rtl="1">
              <a:buNone/>
            </a:pPr>
            <a:r>
              <a:rPr lang="ur-PK" sz="2800" b="1" dirty="0">
                <a:solidFill>
                  <a:srgbClr val="0070C0"/>
                </a:solidFill>
                <a:effectLst>
                  <a:outerShdw blurRad="38100" dist="38100" dir="2700000" algn="tl">
                    <a:srgbClr val="000000">
                      <a:alpha val="43137"/>
                    </a:srgbClr>
                  </a:outerShdw>
                </a:effectLst>
                <a:latin typeface="Jameel Noori Nastaleeq" pitchFamily="2" charset="-78"/>
                <a:cs typeface="Jameel Noori Nastaleeq" pitchFamily="2" charset="-78"/>
              </a:rPr>
              <a:t>مسئلہ </a:t>
            </a:r>
            <a:r>
              <a:rPr lang="ur-PK" sz="2800" b="1" dirty="0" smtClean="0">
                <a:solidFill>
                  <a:srgbClr val="0070C0"/>
                </a:solidFill>
                <a:effectLst>
                  <a:outerShdw blurRad="38100" dist="38100" dir="2700000" algn="tl">
                    <a:srgbClr val="000000">
                      <a:alpha val="43137"/>
                    </a:srgbClr>
                  </a:outerShdw>
                </a:effectLst>
                <a:latin typeface="Jameel Noori Nastaleeq" pitchFamily="2" charset="-78"/>
                <a:cs typeface="Jameel Noori Nastaleeq" pitchFamily="2" charset="-78"/>
              </a:rPr>
              <a:t>تحقیق:</a:t>
            </a:r>
            <a:endParaRPr lang="en-US" sz="2800" b="1" dirty="0">
              <a:solidFill>
                <a:srgbClr val="0070C0"/>
              </a:solidFill>
              <a:effectLst>
                <a:outerShdw blurRad="38100" dist="38100" dir="2700000" algn="tl">
                  <a:srgbClr val="000000">
                    <a:alpha val="43137"/>
                  </a:srgbClr>
                </a:outerShdw>
              </a:effectLst>
              <a:latin typeface="Jameel Noori Nastaleeq" pitchFamily="2" charset="-78"/>
              <a:cs typeface="Jameel Noori Nastaleeq" pitchFamily="2" charset="-78"/>
            </a:endParaRPr>
          </a:p>
          <a:p>
            <a:pPr algn="just" rtl="1"/>
            <a:r>
              <a:rPr lang="ur-PK" dirty="0">
                <a:latin typeface="Jameel Noori Nastaleeq" pitchFamily="2" charset="-78"/>
                <a:cs typeface="Jameel Noori Nastaleeq" pitchFamily="2" charset="-78"/>
              </a:rPr>
              <a:t>مولانا مودودیؒ   اور نو مسلم انقلابی مفکر علامہ محمد اسدؒ     کے افکارو نظریات کی روشنی میں عصر حاضر میں اسلامی تہذیب و تمدن کی تشکیل کا تصور کیا ہے اور ان کے افکار میں کس قدر مماثلت اور اختلاف ہے نیز عہد حاضر میں دونوں مفکرین کی تہذیبی آراء و نظریات کی روشنی میں معاشرتی مسائل کے حل کے حوالے سے کس قدر رہنمائی موجود ہے</a:t>
            </a:r>
            <a:r>
              <a:rPr lang="ur-PK" dirty="0" smtClean="0">
                <a:latin typeface="Jameel Noori Nastaleeq" pitchFamily="2" charset="-78"/>
                <a:cs typeface="Jameel Noori Nastaleeq" pitchFamily="2" charset="-78"/>
              </a:rPr>
              <a:t>۔</a:t>
            </a:r>
            <a:endParaRPr lang="en-US" dirty="0" smtClean="0">
              <a:latin typeface="Jameel Noori Nastaleeq" pitchFamily="2" charset="-78"/>
              <a:cs typeface="Jameel Noori Nastaleeq" pitchFamily="2" charset="-78"/>
            </a:endParaRPr>
          </a:p>
          <a:p>
            <a:pPr marL="0" indent="0" algn="r" rtl="1">
              <a:buNone/>
            </a:pPr>
            <a:r>
              <a:rPr lang="ur-PK" sz="2800" b="1" dirty="0">
                <a:solidFill>
                  <a:srgbClr val="0070C0"/>
                </a:solidFill>
                <a:effectLst>
                  <a:outerShdw blurRad="38100" dist="38100" dir="2700000" algn="tl">
                    <a:srgbClr val="000000">
                      <a:alpha val="43137"/>
                    </a:srgbClr>
                  </a:outerShdw>
                </a:effectLst>
                <a:latin typeface="Jameel Noori Nastaleeq" pitchFamily="2" charset="-78"/>
                <a:cs typeface="Jameel Noori Nastaleeq" pitchFamily="2" charset="-78"/>
              </a:rPr>
              <a:t>فرضیہ </a:t>
            </a:r>
            <a:r>
              <a:rPr lang="ur-PK" sz="2800" b="1" dirty="0" smtClean="0">
                <a:solidFill>
                  <a:srgbClr val="0070C0"/>
                </a:solidFill>
                <a:effectLst>
                  <a:outerShdw blurRad="38100" dist="38100" dir="2700000" algn="tl">
                    <a:srgbClr val="000000">
                      <a:alpha val="43137"/>
                    </a:srgbClr>
                  </a:outerShdw>
                </a:effectLst>
                <a:latin typeface="Jameel Noori Nastaleeq" pitchFamily="2" charset="-78"/>
                <a:cs typeface="Jameel Noori Nastaleeq" pitchFamily="2" charset="-78"/>
              </a:rPr>
              <a:t>تحقیق:</a:t>
            </a:r>
            <a:endParaRPr lang="en-US" sz="2800" b="1" dirty="0">
              <a:solidFill>
                <a:srgbClr val="0070C0"/>
              </a:solidFill>
              <a:effectLst>
                <a:outerShdw blurRad="38100" dist="38100" dir="2700000" algn="tl">
                  <a:srgbClr val="000000">
                    <a:alpha val="43137"/>
                  </a:srgbClr>
                </a:outerShdw>
              </a:effectLst>
              <a:latin typeface="Jameel Noori Nastaleeq" pitchFamily="2" charset="-78"/>
              <a:cs typeface="Jameel Noori Nastaleeq" pitchFamily="2" charset="-78"/>
            </a:endParaRPr>
          </a:p>
          <a:p>
            <a:pPr marL="0" indent="0" algn="just" rtl="1">
              <a:buNone/>
            </a:pPr>
            <a:r>
              <a:rPr lang="en-US" dirty="0">
                <a:latin typeface="Jameel Noori Nastaleeq" pitchFamily="2" charset="-78"/>
                <a:cs typeface="Jameel Noori Nastaleeq" pitchFamily="2" charset="-78"/>
              </a:rPr>
              <a:t>1</a:t>
            </a:r>
            <a:r>
              <a:rPr lang="ur-PK" dirty="0">
                <a:latin typeface="Jameel Noori Nastaleeq" pitchFamily="2" charset="-78"/>
                <a:cs typeface="Jameel Noori Nastaleeq" pitchFamily="2" charset="-78"/>
              </a:rPr>
              <a:t>۔	مولانا مودودی ؒ اور علامہ اسدؒ کے تہذیبی افکار جدید اسلامی تہذیب و تمدن کی تشکیل میں </a:t>
            </a:r>
            <a:endParaRPr lang="ur-PK" dirty="0" smtClean="0">
              <a:latin typeface="Jameel Noori Nastaleeq" pitchFamily="2" charset="-78"/>
              <a:cs typeface="Jameel Noori Nastaleeq" pitchFamily="2" charset="-78"/>
            </a:endParaRPr>
          </a:p>
          <a:p>
            <a:pPr marL="0" indent="0" algn="just" rtl="1">
              <a:buNone/>
            </a:pPr>
            <a:r>
              <a:rPr lang="ur-PK" dirty="0" smtClean="0">
                <a:latin typeface="Jameel Noori Nastaleeq" pitchFamily="2" charset="-78"/>
                <a:cs typeface="Jameel Noori Nastaleeq" pitchFamily="2" charset="-78"/>
              </a:rPr>
              <a:t>	سنگ میل </a:t>
            </a:r>
            <a:r>
              <a:rPr lang="ur-PK" dirty="0">
                <a:latin typeface="Jameel Noori Nastaleeq" pitchFamily="2" charset="-78"/>
                <a:cs typeface="Jameel Noori Nastaleeq" pitchFamily="2" charset="-78"/>
              </a:rPr>
              <a:t>کی حیثیت رکھتے ہیں۔</a:t>
            </a:r>
            <a:endParaRPr lang="en-US" dirty="0">
              <a:latin typeface="Jameel Noori Nastaleeq" pitchFamily="2" charset="-78"/>
              <a:cs typeface="Jameel Noori Nastaleeq" pitchFamily="2" charset="-78"/>
            </a:endParaRPr>
          </a:p>
          <a:p>
            <a:pPr marL="0" indent="0" algn="just" rtl="1">
              <a:buNone/>
            </a:pPr>
            <a:r>
              <a:rPr lang="en-US" dirty="0">
                <a:latin typeface="Jameel Noori Nastaleeq" pitchFamily="2" charset="-78"/>
                <a:cs typeface="Jameel Noori Nastaleeq" pitchFamily="2" charset="-78"/>
              </a:rPr>
              <a:t>2</a:t>
            </a:r>
            <a:r>
              <a:rPr lang="ur-PK" dirty="0">
                <a:latin typeface="Jameel Noori Nastaleeq" pitchFamily="2" charset="-78"/>
                <a:cs typeface="Jameel Noori Nastaleeq" pitchFamily="2" charset="-78"/>
              </a:rPr>
              <a:t>۔	دونوں حضرات کا تہذیبی فکرامتِ اسلامیہ کے تشخص کو عصری تقاضوں سے مربوط و ہم </a:t>
            </a:r>
            <a:r>
              <a:rPr lang="ur-PK" dirty="0" smtClean="0">
                <a:latin typeface="Jameel Noori Nastaleeq" pitchFamily="2" charset="-78"/>
                <a:cs typeface="Jameel Noori Nastaleeq" pitchFamily="2" charset="-78"/>
              </a:rPr>
              <a:t>آہنگ 	کرسکتا ہے</a:t>
            </a:r>
            <a:r>
              <a:rPr lang="ur-PK" dirty="0">
                <a:latin typeface="Jameel Noori Nastaleeq" pitchFamily="2" charset="-78"/>
                <a:cs typeface="Jameel Noori Nastaleeq" pitchFamily="2" charset="-78"/>
              </a:rPr>
              <a:t>۔</a:t>
            </a:r>
            <a:endParaRPr lang="en-US" dirty="0">
              <a:latin typeface="Jameel Noori Nastaleeq" pitchFamily="2" charset="-78"/>
              <a:cs typeface="Jameel Noori Nastaleeq" pitchFamily="2" charset="-78"/>
            </a:endParaRPr>
          </a:p>
          <a:p>
            <a:pPr marL="0" indent="0" algn="just" rtl="1">
              <a:buNone/>
            </a:pPr>
            <a:r>
              <a:rPr lang="en-US" dirty="0">
                <a:latin typeface="Jameel Noori Nastaleeq" pitchFamily="2" charset="-78"/>
                <a:cs typeface="Jameel Noori Nastaleeq" pitchFamily="2" charset="-78"/>
              </a:rPr>
              <a:t>3</a:t>
            </a:r>
            <a:r>
              <a:rPr lang="ur-PK" dirty="0">
                <a:latin typeface="Jameel Noori Nastaleeq" pitchFamily="2" charset="-78"/>
                <a:cs typeface="Jameel Noori Nastaleeq" pitchFamily="2" charset="-78"/>
              </a:rPr>
              <a:t>۔	مولانا مودودی   ؒ                                 کا تہذیبی و تمدنی و یژن علامہ اسدؒ پر کلیۃً برتری رکھتا ہے۔</a:t>
            </a:r>
            <a:endParaRPr lang="en-US" dirty="0">
              <a:latin typeface="Jameel Noori Nastaleeq" pitchFamily="2" charset="-78"/>
              <a:cs typeface="Jameel Noori Nastaleeq" pitchFamily="2" charset="-78"/>
            </a:endParaRPr>
          </a:p>
          <a:p>
            <a:pPr marL="0" indent="0" algn="just" rtl="1">
              <a:buNone/>
            </a:pPr>
            <a:r>
              <a:rPr lang="ur-PK" dirty="0">
                <a:latin typeface="Jameel Noori Nastaleeq" pitchFamily="2" charset="-78"/>
                <a:cs typeface="Jameel Noori Nastaleeq" pitchFamily="2" charset="-78"/>
              </a:rPr>
              <a:t>4۔	علامہ اسدؒکے تہذیبی افکار مولانا مودودیؒ   ؒ کے تہذیبی ویژن سے متاثر ہیں۔</a:t>
            </a:r>
            <a:endParaRPr lang="en-US"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35322756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638800"/>
          </a:xfrm>
        </p:spPr>
        <p:txBody>
          <a:bodyPr>
            <a:normAutofit/>
          </a:bodyPr>
          <a:lstStyle/>
          <a:p>
            <a:pPr marL="0" indent="0" algn="r" rtl="1">
              <a:buNone/>
            </a:pPr>
            <a:r>
              <a:rPr lang="ur-PK" sz="2800" b="1" dirty="0">
                <a:solidFill>
                  <a:srgbClr val="0070C0"/>
                </a:solidFill>
                <a:effectLst>
                  <a:outerShdw blurRad="38100" dist="38100" dir="2700000" algn="tl">
                    <a:srgbClr val="000000">
                      <a:alpha val="43137"/>
                    </a:srgbClr>
                  </a:outerShdw>
                </a:effectLst>
                <a:latin typeface="Jameel Noori Nastaleeq" pitchFamily="2" charset="-78"/>
                <a:cs typeface="Jameel Noori Nastaleeq" pitchFamily="2" charset="-78"/>
              </a:rPr>
              <a:t>دائرہ </a:t>
            </a:r>
            <a:r>
              <a:rPr lang="ur-PK" sz="2800" b="1" dirty="0" smtClean="0">
                <a:solidFill>
                  <a:srgbClr val="0070C0"/>
                </a:solidFill>
                <a:effectLst>
                  <a:outerShdw blurRad="38100" dist="38100" dir="2700000" algn="tl">
                    <a:srgbClr val="000000">
                      <a:alpha val="43137"/>
                    </a:srgbClr>
                  </a:outerShdw>
                </a:effectLst>
                <a:latin typeface="Jameel Noori Nastaleeq" pitchFamily="2" charset="-78"/>
                <a:cs typeface="Jameel Noori Nastaleeq" pitchFamily="2" charset="-78"/>
              </a:rPr>
              <a:t>تحقیق:</a:t>
            </a:r>
            <a:endParaRPr lang="en-US" sz="2800" b="1" dirty="0">
              <a:solidFill>
                <a:srgbClr val="0070C0"/>
              </a:solidFill>
              <a:effectLst>
                <a:outerShdw blurRad="38100" dist="38100" dir="2700000" algn="tl">
                  <a:srgbClr val="000000">
                    <a:alpha val="43137"/>
                  </a:srgbClr>
                </a:outerShdw>
              </a:effectLst>
              <a:latin typeface="Jameel Noori Nastaleeq" pitchFamily="2" charset="-78"/>
              <a:cs typeface="Jameel Noori Nastaleeq" pitchFamily="2" charset="-78"/>
            </a:endParaRPr>
          </a:p>
          <a:p>
            <a:pPr algn="just" rtl="1"/>
            <a:r>
              <a:rPr lang="ur-PK" dirty="0">
                <a:latin typeface="Jameel Noori Nastaleeq" pitchFamily="2" charset="-78"/>
                <a:cs typeface="Jameel Noori Nastaleeq" pitchFamily="2" charset="-78"/>
              </a:rPr>
              <a:t>اس تحقیق کو بنیادی سوال تک محدود رکھا گیا ہے اور اس دوران مولانا مودودیؒ   اور علامہ اسدؒکے تہذیبی افکار کے حوالے سے لکھی گئی تصانیف کے سیر حاصل مطالعہ کے بعد حقیقی نتائج تلاش کرنے کی کوشش کی  گئی ہے۔ </a:t>
            </a:r>
            <a:endParaRPr lang="en-US" dirty="0">
              <a:latin typeface="Jameel Noori Nastaleeq" pitchFamily="2" charset="-78"/>
              <a:cs typeface="Jameel Noori Nastaleeq" pitchFamily="2" charset="-78"/>
            </a:endParaRPr>
          </a:p>
          <a:p>
            <a:pPr marL="0" indent="0" algn="just" rtl="1">
              <a:buNone/>
            </a:pPr>
            <a:endParaRPr lang="ur-PK" b="1" dirty="0" smtClean="0">
              <a:latin typeface="Jameel Noori Nastaleeq" pitchFamily="2" charset="-78"/>
              <a:cs typeface="Jameel Noori Nastaleeq" pitchFamily="2" charset="-78"/>
            </a:endParaRPr>
          </a:p>
          <a:p>
            <a:pPr marL="0" indent="0" algn="r" rtl="1">
              <a:buNone/>
            </a:pPr>
            <a:r>
              <a:rPr lang="ur-PK" sz="2800" b="1" dirty="0">
                <a:solidFill>
                  <a:srgbClr val="0070C0"/>
                </a:solidFill>
                <a:effectLst>
                  <a:outerShdw blurRad="38100" dist="38100" dir="2700000" algn="tl">
                    <a:srgbClr val="000000">
                      <a:alpha val="43137"/>
                    </a:srgbClr>
                  </a:outerShdw>
                </a:effectLst>
                <a:latin typeface="Jameel Noori Nastaleeq" pitchFamily="2" charset="-78"/>
                <a:cs typeface="Jameel Noori Nastaleeq" pitchFamily="2" charset="-78"/>
              </a:rPr>
              <a:t>اسلوب </a:t>
            </a:r>
            <a:r>
              <a:rPr lang="ur-PK" sz="2800" b="1" dirty="0" smtClean="0">
                <a:solidFill>
                  <a:srgbClr val="0070C0"/>
                </a:solidFill>
                <a:effectLst>
                  <a:outerShdw blurRad="38100" dist="38100" dir="2700000" algn="tl">
                    <a:srgbClr val="000000">
                      <a:alpha val="43137"/>
                    </a:srgbClr>
                  </a:outerShdw>
                </a:effectLst>
                <a:latin typeface="Jameel Noori Nastaleeq" pitchFamily="2" charset="-78"/>
                <a:cs typeface="Jameel Noori Nastaleeq" pitchFamily="2" charset="-78"/>
              </a:rPr>
              <a:t>تحقیق:</a:t>
            </a:r>
            <a:endParaRPr lang="en-US" sz="2800" b="1" dirty="0">
              <a:solidFill>
                <a:srgbClr val="0070C0"/>
              </a:solidFill>
              <a:effectLst>
                <a:outerShdw blurRad="38100" dist="38100" dir="2700000" algn="tl">
                  <a:srgbClr val="000000">
                    <a:alpha val="43137"/>
                  </a:srgbClr>
                </a:outerShdw>
              </a:effectLst>
              <a:latin typeface="Jameel Noori Nastaleeq" pitchFamily="2" charset="-78"/>
              <a:cs typeface="Jameel Noori Nastaleeq" pitchFamily="2" charset="-78"/>
            </a:endParaRPr>
          </a:p>
          <a:p>
            <a:pPr algn="just" rtl="1"/>
            <a:r>
              <a:rPr lang="ur-PK" dirty="0">
                <a:latin typeface="Jameel Noori Nastaleeq" pitchFamily="2" charset="-78"/>
                <a:cs typeface="Jameel Noori Nastaleeq" pitchFamily="2" charset="-78"/>
              </a:rPr>
              <a:t>اس تحقیق کو پایہ تکمیل تک پہنچانے کےلئے بیانیہ تقابلی اور تنقیدی طریقہ تحقیق بروئے کار لاتے ہوئے تحقیق کے بنیادی سوال کو حل کرنے کی کوشش کی  گئی ہے ۔ نیز تحقیق کے دوران ترتیب و تسلسل کا لحاظ رکھتے ہوئے تعصّبات سے بالاتر ہو کر حقائق بیان کیے  گئے ہیں۔</a:t>
            </a:r>
            <a:endParaRPr lang="en-US"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35322756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6255" y="1600200"/>
            <a:ext cx="6391494" cy="2646878"/>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ur-PK" sz="166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rPr>
              <a:t>ابواب بندی</a:t>
            </a:r>
            <a:endParaRPr lang="en-US" sz="72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extLst>
      <p:ext uri="{BB962C8B-B14F-4D97-AF65-F5344CB8AC3E}">
        <p14:creationId xmlns:p14="http://schemas.microsoft.com/office/powerpoint/2010/main" val="35322756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0099" y="1828800"/>
            <a:ext cx="8263801" cy="2985433"/>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rtl="1"/>
            <a:r>
              <a:rPr lang="ur-PK" sz="8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rPr>
              <a:t>باب اوّل</a:t>
            </a:r>
            <a:endParaRPr lang="en-US" sz="8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a:p>
            <a:pPr algn="ctr" rtl="1"/>
            <a:endParaRPr lang="en-U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a:p>
            <a:pPr algn="ctr" rtl="1"/>
            <a:r>
              <a:rPr lang="ar-SA" sz="5400" b="1" cap="none" spc="50" dirty="0" smtClean="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rPr>
              <a:t>تہذیب </a:t>
            </a:r>
            <a:r>
              <a:rPr lang="ar-SA" sz="5400" b="1" cap="none" spc="50" dirty="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rPr>
              <a:t>و تمدن کا آغاز و ارتقاء اور اسکے عناصر ترکیبی</a:t>
            </a:r>
            <a:endParaRPr lang="en-US" sz="5400" b="1" cap="none" spc="50" dirty="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p:txBody>
      </p:sp>
    </p:spTree>
    <p:extLst>
      <p:ext uri="{BB962C8B-B14F-4D97-AF65-F5344CB8AC3E}">
        <p14:creationId xmlns:p14="http://schemas.microsoft.com/office/powerpoint/2010/main" val="35322756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737" y="1828800"/>
            <a:ext cx="8010526" cy="2985433"/>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rtl="1"/>
            <a:r>
              <a:rPr lang="ur-PK" sz="80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rPr>
              <a:t>باب دوم</a:t>
            </a:r>
            <a:endParaRPr lang="en-US" sz="8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a:p>
            <a:pPr algn="ctr" rtl="1"/>
            <a:endParaRPr lang="en-U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a:p>
            <a:pPr algn="ctr" rtl="1"/>
            <a:r>
              <a:rPr lang="ar-SA" sz="5400" b="1" spc="50" dirty="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rPr>
              <a:t>مولانا مودودی ؒ کے حالاتِ زندگی اور تہذیبی افکار</a:t>
            </a:r>
            <a:endParaRPr lang="en-US" sz="5400" b="1" spc="50" dirty="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p:txBody>
      </p:sp>
    </p:spTree>
    <p:extLst>
      <p:ext uri="{BB962C8B-B14F-4D97-AF65-F5344CB8AC3E}">
        <p14:creationId xmlns:p14="http://schemas.microsoft.com/office/powerpoint/2010/main" val="23888698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359" y="1828800"/>
            <a:ext cx="7773282" cy="2985433"/>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rtl="1"/>
            <a:r>
              <a:rPr lang="ur-PK" sz="8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rPr>
              <a:t>باب </a:t>
            </a:r>
            <a:r>
              <a:rPr lang="ur-PK" sz="80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rPr>
              <a:t>سوم</a:t>
            </a:r>
            <a:endParaRPr lang="en-US" sz="8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a:p>
            <a:pPr algn="ctr" rtl="1"/>
            <a:endParaRPr lang="en-U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a:p>
            <a:pPr algn="ctr"/>
            <a:r>
              <a:rPr lang="ar-SA" sz="5400" b="1" spc="50" dirty="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rPr>
              <a:t>علامہ محمد اسدؒ کے حالاتِ زندگی اور تہذیبی افکار</a:t>
            </a:r>
            <a:endParaRPr lang="en-US" sz="5400" b="1" spc="50" dirty="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p:txBody>
      </p:sp>
    </p:spTree>
    <p:extLst>
      <p:ext uri="{BB962C8B-B14F-4D97-AF65-F5344CB8AC3E}">
        <p14:creationId xmlns:p14="http://schemas.microsoft.com/office/powerpoint/2010/main" val="23888698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359" y="1828800"/>
            <a:ext cx="7773282" cy="2985433"/>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rtl="1"/>
            <a:r>
              <a:rPr lang="ur-PK" sz="8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rPr>
              <a:t>باب </a:t>
            </a:r>
            <a:r>
              <a:rPr lang="ur-PK" sz="80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rPr>
              <a:t>سوم</a:t>
            </a:r>
            <a:endParaRPr lang="en-US" sz="8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a:p>
            <a:pPr algn="ctr" rtl="1"/>
            <a:endParaRPr lang="en-U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a:p>
            <a:pPr algn="ctr" rtl="1"/>
            <a:r>
              <a:rPr lang="ar-SA" sz="5400" b="1" spc="50" dirty="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rPr>
              <a:t>علامہ محمد اسدؒ کے حالاتِ زندگی اور تہذیبی افکار</a:t>
            </a:r>
            <a:endParaRPr lang="en-US" sz="5400" b="1" spc="50" dirty="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p:txBody>
      </p:sp>
    </p:spTree>
    <p:extLst>
      <p:ext uri="{BB962C8B-B14F-4D97-AF65-F5344CB8AC3E}">
        <p14:creationId xmlns:p14="http://schemas.microsoft.com/office/powerpoint/2010/main" val="403237374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303" y="1828800"/>
            <a:ext cx="8047395" cy="3816429"/>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rtl="1"/>
            <a:r>
              <a:rPr lang="ur-PK" sz="8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rPr>
              <a:t>باب </a:t>
            </a:r>
            <a:r>
              <a:rPr lang="ur-PK" sz="80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rPr>
              <a:t>چہارم</a:t>
            </a:r>
            <a:endParaRPr lang="en-US" sz="8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a:p>
            <a:pPr algn="ctr" rtl="1"/>
            <a:endParaRPr lang="en-U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a:p>
            <a:pPr algn="ctr" rtl="1"/>
            <a:r>
              <a:rPr lang="ar-SA" sz="5400" b="1" spc="50" dirty="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rPr>
              <a:t>اسلامی تہذیب جدید کی تشکیل میں مولانا مودودیؒ </a:t>
            </a:r>
            <a:endParaRPr lang="ur-PK" sz="5400" b="1" spc="50" dirty="0" smtClean="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a:p>
            <a:pPr algn="ctr" rtl="1"/>
            <a:r>
              <a:rPr lang="ar-SA" sz="5400" b="1" spc="50" dirty="0" smtClean="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rPr>
              <a:t>کے افکار </a:t>
            </a:r>
            <a:r>
              <a:rPr lang="ar-SA" sz="5400" b="1" spc="50" dirty="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rPr>
              <a:t>کا تجزیاتی مطالعہ </a:t>
            </a:r>
            <a:endParaRPr lang="en-US" sz="5400" b="1" spc="50" dirty="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p:txBody>
      </p:sp>
    </p:spTree>
    <p:extLst>
      <p:ext uri="{BB962C8B-B14F-4D97-AF65-F5344CB8AC3E}">
        <p14:creationId xmlns:p14="http://schemas.microsoft.com/office/powerpoint/2010/main" val="8715549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54101" y="1828800"/>
            <a:ext cx="7835799" cy="3816429"/>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rtl="1"/>
            <a:r>
              <a:rPr lang="ur-PK" sz="8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rPr>
              <a:t>باب </a:t>
            </a:r>
            <a:r>
              <a:rPr lang="ur-PK" sz="80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rPr>
              <a:t>پنجم</a:t>
            </a:r>
            <a:endParaRPr lang="en-US" sz="8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a:p>
            <a:pPr algn="ctr" rtl="1"/>
            <a:endParaRPr lang="en-U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a:p>
            <a:pPr algn="ctr" rtl="1"/>
            <a:r>
              <a:rPr lang="ar-SA" sz="5400" b="1" spc="50" dirty="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rPr>
              <a:t>اسلامی تہذیب جدید کی تشکیل میں علامہ محمد اسد ؒ </a:t>
            </a:r>
            <a:endParaRPr lang="ur-PK" sz="5400" b="1" spc="50" dirty="0" smtClean="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a:p>
            <a:pPr algn="ctr" rtl="1"/>
            <a:r>
              <a:rPr lang="ar-SA" sz="5400" b="1" spc="50" dirty="0" smtClean="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rPr>
              <a:t>کے </a:t>
            </a:r>
            <a:r>
              <a:rPr lang="ar-SA" sz="5400" b="1" spc="50" dirty="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rPr>
              <a:t>افکار کا تجزیاتی مطالعہ</a:t>
            </a:r>
            <a:endParaRPr lang="en-US" sz="5400" b="1" spc="50" dirty="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p:txBody>
      </p:sp>
    </p:spTree>
    <p:extLst>
      <p:ext uri="{BB962C8B-B14F-4D97-AF65-F5344CB8AC3E}">
        <p14:creationId xmlns:p14="http://schemas.microsoft.com/office/powerpoint/2010/main" val="8715549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3224" y="1828800"/>
            <a:ext cx="7917552" cy="3816429"/>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rtl="1"/>
            <a:r>
              <a:rPr lang="ur-PK" sz="8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rPr>
              <a:t>باب </a:t>
            </a:r>
            <a:r>
              <a:rPr lang="ur-PK" sz="80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rPr>
              <a:t>ششم</a:t>
            </a:r>
            <a:endParaRPr lang="en-US" sz="8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a:p>
            <a:pPr algn="ctr" rtl="1"/>
            <a:endParaRPr lang="en-US" sz="5400" b="1" cap="none"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a:p>
            <a:pPr algn="ctr" rtl="1"/>
            <a:r>
              <a:rPr lang="ar-SA" sz="5400" b="1" spc="50" dirty="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rPr>
              <a:t>مولانا مودودی ؒ اور علامہ محمداسدؒ کے تہذیبی افکار </a:t>
            </a:r>
            <a:endParaRPr lang="ur-PK" sz="5400" b="1" spc="50" dirty="0" smtClean="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a:p>
            <a:pPr algn="ctr" rtl="1"/>
            <a:r>
              <a:rPr lang="ar-SA" sz="5400" b="1" spc="50" dirty="0" smtClean="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rPr>
              <a:t>کا </a:t>
            </a:r>
            <a:r>
              <a:rPr lang="ar-SA" sz="5400" b="1" spc="50" dirty="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rPr>
              <a:t>تقابلی جائزہ</a:t>
            </a:r>
            <a:endParaRPr lang="en-US" sz="5400" b="1" spc="50" dirty="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p:txBody>
      </p:sp>
    </p:spTree>
    <p:extLst>
      <p:ext uri="{BB962C8B-B14F-4D97-AF65-F5344CB8AC3E}">
        <p14:creationId xmlns:p14="http://schemas.microsoft.com/office/powerpoint/2010/main" val="87654663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0"/>
            <a:ext cx="8229600" cy="5105400"/>
          </a:xfrm>
        </p:spPr>
        <p:txBody>
          <a:bodyPr>
            <a:normAutofit fontScale="92500" lnSpcReduction="20000"/>
          </a:bodyPr>
          <a:lstStyle/>
          <a:p>
            <a:pPr lvl="0" algn="just" rtl="1"/>
            <a:r>
              <a:rPr lang="ur-PK" dirty="0">
                <a:latin typeface="Jameel Noori Nastaleeq" pitchFamily="2" charset="-78"/>
                <a:cs typeface="Jameel Noori Nastaleeq" pitchFamily="2" charset="-78"/>
              </a:rPr>
              <a:t>لفظ ’’تہذیب‘‘ کے لغوی معنی ’’درخت کی کانٹ چھانٹ کرنا، اخلاق کو سنوارنا اور درست کرنا نیز شائستگی، خوش اخلاقی اور کردار و اخلاق کی درستگی‘‘ کے ہیں۔ انگریزی میں تہذیب کےلئے </a:t>
            </a:r>
            <a:r>
              <a:rPr lang="en-US" dirty="0">
                <a:latin typeface="Jameel Noori Nastaleeq" pitchFamily="2" charset="-78"/>
                <a:cs typeface="Jameel Noori Nastaleeq" pitchFamily="2" charset="-78"/>
              </a:rPr>
              <a:t>Civilization</a:t>
            </a:r>
            <a:r>
              <a:rPr lang="ur-PK" dirty="0">
                <a:latin typeface="Jameel Noori Nastaleeq" pitchFamily="2" charset="-78"/>
                <a:cs typeface="Jameel Noori Nastaleeq" pitchFamily="2" charset="-78"/>
              </a:rPr>
              <a:t> کا لفظ استعمال ہوا ہے جو کسی معاشرے کی با مقصد تخلیقات اور سماجی اقدار کے نظام کو کہتے ہیں جبکہ اصطلاح میں تہذیب‘‘معاشرے کے طرز زندگی اور طرز فکرو احساس " کو کہتے ہیں۔</a:t>
            </a:r>
            <a:endParaRPr lang="en-US" dirty="0">
              <a:latin typeface="Jameel Noori Nastaleeq" pitchFamily="2" charset="-78"/>
              <a:cs typeface="Jameel Noori Nastaleeq" pitchFamily="2" charset="-78"/>
            </a:endParaRPr>
          </a:p>
          <a:p>
            <a:pPr lvl="0" algn="just" rtl="1"/>
            <a:r>
              <a:rPr lang="ur-PK" dirty="0">
                <a:latin typeface="Jameel Noori Nastaleeq" pitchFamily="2" charset="-78"/>
                <a:cs typeface="Jameel Noori Nastaleeq" pitchFamily="2" charset="-78"/>
              </a:rPr>
              <a:t>تہذیب اور ثقافت کے مفہوم میں نمایاں فرق ہے۔ وہ یہ کہ ثقافت کی اصطلاح فکری نشوونما اور ارتقاء پر دلالت کرتی ہے جبکہ تہذیب معاشرتی ترقی کے بلند درجہ کو ظاہر کرتی ہے گویا ثقافت ذہنی کیفیت کو بیان کرتی ہے اسلئے اس کا تعلق فکری عمل سے ہے اور یہ ایک داخلی کیفیت کا نام ہے جبکہ اسکے مقابلے میں تہذیب کا تعلق مادی اکتسابات سے ہوتا ہے اور یہ ظاہری زندگی کی ٹھوس اور حقیقی ترقی و مدارج کا مجموعہ ہوتی ہے نیز اس کا تعلق خارجی دنیا کے مظاہر سے ہوتا ہے۔</a:t>
            </a:r>
            <a:endParaRPr lang="en-US" dirty="0">
              <a:latin typeface="Jameel Noori Nastaleeq" pitchFamily="2" charset="-78"/>
              <a:cs typeface="Jameel Noori Nastaleeq" pitchFamily="2" charset="-78"/>
            </a:endParaRPr>
          </a:p>
          <a:p>
            <a:pPr lvl="0" algn="just" rtl="1"/>
            <a:r>
              <a:rPr lang="ur-PK" dirty="0">
                <a:latin typeface="Jameel Noori Nastaleeq" pitchFamily="2" charset="-78"/>
                <a:cs typeface="Jameel Noori Nastaleeq" pitchFamily="2" charset="-78"/>
              </a:rPr>
              <a:t>اسی طرح تہذیب اور تمدن میں یہ فرق ہے کہ تہذیب ذہنی کیفیتوں کے ایک مجموعے کا نام ہے جو خارجی دنیا میں بالواسطہ منعکس ہوتا ہے اور ہر تہذیب کے ساتھ ایک مخصوص نظامِ معاشرت وابستہ ہوتا ہے جسے تمدن کہا جاتا ہے اور تمدن کے مظاہر خارجی دنیا میں موجود ہوتے ہیں مثلاً مسجد کے گنبدو مینار اور نقاشی کے رنگ و خطوط وغیرہ۔</a:t>
            </a:r>
            <a:endParaRPr lang="en-US" dirty="0">
              <a:latin typeface="Jameel Noori Nastaleeq" pitchFamily="2" charset="-78"/>
              <a:cs typeface="Jameel Noori Nastaleeq" pitchFamily="2" charset="-78"/>
            </a:endParaRPr>
          </a:p>
          <a:p>
            <a:pPr algn="just" rtl="1"/>
            <a:r>
              <a:rPr lang="ur-PK" dirty="0">
                <a:latin typeface="Jameel Noori Nastaleeq" pitchFamily="2" charset="-78"/>
                <a:cs typeface="Jameel Noori Nastaleeq" pitchFamily="2" charset="-78"/>
              </a:rPr>
              <a:t>اسلامی تہذیب کا سنگ بنیاد دنیاوی زندگی کا یہ تصور ہے کہ اس دنیا میں انسان کی حیثیت جمادات کی سی نہیں ہے اور نہ ہی وہ اپنے افکارو معاملات میں مکمل آزاد اور شتربے مہار ہے بلکہ وہ ایک نظام اور پروگرام کے تحت زمین پر خلیفہ بنا کر اتارا گیا ہے اور ایک خاص مقصد کی تکمیل کےلئے ایک معین وقت تک زمین پر بھیجا گیا ہے نیز اسلامی تہذیب کی بنیاد ظن و تخمین کی بجائے علم و یقین پر ہے۔</a:t>
            </a:r>
            <a:endParaRPr lang="en-US" dirty="0">
              <a:latin typeface="Jameel Noori Nastaleeq" pitchFamily="2" charset="-78"/>
              <a:cs typeface="Jameel Noori Nastaleeq" pitchFamily="2" charset="-78"/>
            </a:endParaRPr>
          </a:p>
        </p:txBody>
      </p:sp>
      <p:sp>
        <p:nvSpPr>
          <p:cNvPr id="2" name="Rectangle 1"/>
          <p:cNvSpPr/>
          <p:nvPr/>
        </p:nvSpPr>
        <p:spPr>
          <a:xfrm>
            <a:off x="3663212" y="685800"/>
            <a:ext cx="1705916" cy="707886"/>
          </a:xfrm>
          <a:prstGeom prst="rect">
            <a:avLst/>
          </a:prstGeom>
        </p:spPr>
        <p:txBody>
          <a:bodyPr wrap="none">
            <a:spAutoFit/>
          </a:bodyPr>
          <a:lstStyle/>
          <a:p>
            <a:pPr algn="ctr" rtl="1"/>
            <a:r>
              <a:rPr lang="ur-PK" sz="4000" b="1" spc="50" dirty="0" smtClean="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rPr>
              <a:t>خلاصہ تحقیق</a:t>
            </a:r>
            <a:endParaRPr lang="en-US" sz="4000" b="1" spc="50" dirty="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p:txBody>
      </p:sp>
    </p:spTree>
    <p:extLst>
      <p:ext uri="{BB962C8B-B14F-4D97-AF65-F5344CB8AC3E}">
        <p14:creationId xmlns:p14="http://schemas.microsoft.com/office/powerpoint/2010/main" val="416110155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638800"/>
          </a:xfrm>
        </p:spPr>
        <p:txBody>
          <a:bodyPr>
            <a:noAutofit/>
          </a:bodyPr>
          <a:lstStyle/>
          <a:p>
            <a:pPr lvl="0" algn="just" rtl="1"/>
            <a:r>
              <a:rPr lang="ur-PK" sz="2100" dirty="0">
                <a:latin typeface="Jameel Noori Nastaleeq" pitchFamily="2" charset="-78"/>
                <a:cs typeface="Jameel Noori Nastaleeq" pitchFamily="2" charset="-78"/>
              </a:rPr>
              <a:t>تہذیب کے عناصر ترکیبی میں دنیاوی زندگی کا تصور، زندگی کا نصب العین، عقائد و افکار، تربیت افراد کے اصول اور نظام اجتماعی کے اصول شامل ہیں۔ ان پانچ عناصر کے تصور سے تہذیب وجود میں آتی ہے اور انہی کے بدلنے سے تہذیب بدل جاتی ہے۔</a:t>
            </a:r>
            <a:endParaRPr lang="en-US" sz="2100" dirty="0">
              <a:latin typeface="Jameel Noori Nastaleeq" pitchFamily="2" charset="-78"/>
              <a:cs typeface="Jameel Noori Nastaleeq" pitchFamily="2" charset="-78"/>
            </a:endParaRPr>
          </a:p>
          <a:p>
            <a:pPr lvl="0" algn="just" rtl="1"/>
            <a:r>
              <a:rPr lang="ur-PK" sz="2050" dirty="0">
                <a:latin typeface="Jameel Noori Nastaleeq" pitchFamily="2" charset="-78"/>
                <a:cs typeface="Jameel Noori Nastaleeq" pitchFamily="2" charset="-78"/>
              </a:rPr>
              <a:t>اسلامی تہذیب و معاشرت میں ہمیشہ فکرو تدبر اور حصول علم و اشاعت علم کو خصوصی اہمیت رہی ہے۔ اسی بنا پر قرآن حکیم نے جابجا انسان کو فکروتدبر کی ترغیب و تاکید کرتے ہوئے اسے کائنات کے غجائبات پر تدبر اور شاہدے کی تعلیم بھی دی ہے۔ اس حوالے سے آیات قرآنی (الشوریٰ آیۃ 53)، (آل عمران آیۃ 190)، (النساء آیۃ 82)، (محمدآیۃ24)، (الروم آیۃ 24-21)، (ھود آیۃ 24)، (الرعد آیۃ 16)، (الاعراف آیۃ 179)، (الزمر آیۃ9) اور (المجادلہ آیۃ 11) ملاحظہ ہوں جن میں تفکروتدبر کو اسلامی تہذیب و تمدن کا خاصہ اور جزو لازم قرار دیا گیا ہے اور تفکرو تدبر پر دینی و دنیوی کامیابی اور انعاماتِ خداوندی کا مژدہ سنایا گیا ہے۔</a:t>
            </a:r>
            <a:endParaRPr lang="en-US" sz="2050" dirty="0">
              <a:latin typeface="Jameel Noori Nastaleeq" pitchFamily="2" charset="-78"/>
              <a:cs typeface="Jameel Noori Nastaleeq" pitchFamily="2" charset="-78"/>
            </a:endParaRPr>
          </a:p>
          <a:p>
            <a:pPr lvl="0" algn="just" rtl="1"/>
            <a:r>
              <a:rPr lang="ur-PK" sz="2100" dirty="0">
                <a:latin typeface="Jameel Noori Nastaleeq" pitchFamily="2" charset="-78"/>
                <a:cs typeface="Jameel Noori Nastaleeq" pitchFamily="2" charset="-78"/>
              </a:rPr>
              <a:t>اسلام کا نظریہ تہذیب و تمدن ایک ایسے لاثانی تصور پر مبنی ہے جو نوع انسانی کو ضروری آرام و آسائش دینے کے ساتھ ساتھ اسکو بلندیوں کے اعلیٰ مقام تک پہنچا دیتا ہے کیونکہ اسلامی تہذیب و تمدن کا حسن یہ ہے کہ اس میں مادی و روحانی، معاشی و اخلاقی اور دینی و دنیاوی تصورات بیک وقت موجود ہیں۔ اس حوالے سے حکومتی قوانین انقلاب معاشرہ میں ایک اہم کردار ادا کرتے ہیں یہی وجہ ہے کہ اسلام نے تہذیب و معاشرہ میں اسلامی قوانین کی حکمرانی کو بطور خاص اہمیت دی ہے۔</a:t>
            </a:r>
            <a:endParaRPr lang="en-US" sz="2100" dirty="0">
              <a:latin typeface="Jameel Noori Nastaleeq" pitchFamily="2" charset="-78"/>
              <a:cs typeface="Jameel Noori Nastaleeq" pitchFamily="2" charset="-78"/>
            </a:endParaRPr>
          </a:p>
          <a:p>
            <a:pPr algn="just" rtl="1"/>
            <a:r>
              <a:rPr lang="ur-PK" sz="2100" dirty="0">
                <a:latin typeface="Jameel Noori Nastaleeq" pitchFamily="2" charset="-78"/>
                <a:cs typeface="Jameel Noori Nastaleeq" pitchFamily="2" charset="-78"/>
              </a:rPr>
              <a:t>اسلام کا نظام تہذیب و تمدن کوئی مقامی یا تاریخی نظام نہیں بلکہ یہ تو ایک انقلاب کا نام ہے جو اللہ تعالیٰ نے حیات انسانی کےلئے موزوں اور پسندیدہ قرار دیا ہے اس حوالے سے ارشادات قرآنی (آل عمران آیۃ 85-83) ملاحظہ ہوں جن میں اللہ تعالیٰ نے تمام نوع انسانی پر واضح فرمادیا کہ معاشرہ کو امن و سکون کا گہوارہ بنانے کےلئے اس میں اللہ کے وضع کردہ نظام حیات کو نافظ کرنا پڑے گا ورنہ معاشرہ جنگل کے معاشرے کا نقشہ پیش کرے گا خواہ اس معاشرے میں دولت کی فراوانی ہی کیوں نہ ہو اس سلسلے میں مغربی معاشرہ اسکی بہترین مثال ہے جس میں دولت کی ریل پیل ہونے کے باوجود معاشرہ امن و سکون سے محروم ہونے کی وجہ سے وہاں پر خود کشی کا رجحان عام ہے۔</a:t>
            </a:r>
            <a:endParaRPr lang="en-US" sz="2100"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278960920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638800"/>
          </a:xfrm>
        </p:spPr>
        <p:txBody>
          <a:bodyPr>
            <a:noAutofit/>
          </a:bodyPr>
          <a:lstStyle/>
          <a:p>
            <a:pPr lvl="0" algn="just" rtl="1"/>
            <a:r>
              <a:rPr lang="ur-PK" sz="2100" dirty="0">
                <a:latin typeface="Jameel Noori Nastaleeq" pitchFamily="2" charset="-78"/>
                <a:cs typeface="Jameel Noori Nastaleeq" pitchFamily="2" charset="-78"/>
              </a:rPr>
              <a:t>قرآن حکیم نے بنیادی حقوق اور عدل اجتماعی کو اسلامی معاشرہ کا لازمی عنصر قرار دیا ہے اور ان دو صفات سے خالی معاشرہ کبھی بھی اسلامی معاشرہ کہلوانے کا حقدار نہیں ہے۔ اس حوالے سے قرآن کی ایک انتہائی مختصر اور جامع سورت ’’سورۃ العصر‘‘ میں اس تہذیب و معاشرہ کو انتہائی خسارے سے دو چار کہا گیا ہے جس میں عدل اجتماعی، باہمی ہمدردی، ایثارو مساوات اور حق و صبر کی صفات نہ ہوں تاھم ایسا معاشرہ جس میں چار بنیادی صفات ایمان، عمل صالح، تواصی بالحق اور تواصی بالصبر کی صفات ہوں، حقیقت میں وہی انسانی معاشرہ ہے جو ہر طرح کے خسارے سے محفوظ و مامون رہتا ہے۔</a:t>
            </a:r>
            <a:endParaRPr lang="en-US" sz="2100" dirty="0">
              <a:latin typeface="Jameel Noori Nastaleeq" pitchFamily="2" charset="-78"/>
              <a:cs typeface="Jameel Noori Nastaleeq" pitchFamily="2" charset="-78"/>
            </a:endParaRPr>
          </a:p>
          <a:p>
            <a:pPr lvl="0" algn="just" rtl="1"/>
            <a:r>
              <a:rPr lang="ur-PK" sz="2100" dirty="0">
                <a:latin typeface="Jameel Noori Nastaleeq" pitchFamily="2" charset="-78"/>
                <a:cs typeface="Jameel Noori Nastaleeq" pitchFamily="2" charset="-78"/>
              </a:rPr>
              <a:t>قرآن نے کسی بھی معاشرے کے قیام امن و سکون کےلئے معاشرتی عدل کی اہمیت تاکیداً جابجا بیان کی ہے۔ اس حوالے سے (النساء آیۃ 58) اور (المائدہ آیۃ 8) ملاحظہ ہوں جن میں اس بات پر زور دیا گیا ہے کہ انسانی معاشرہ میں عدل کا دامن کسی طرح بھی چھوٹنے نہ پائے اور معاشرے کے تمام افراد عامۃ الناس سے لے کر اعلیٰ حکام تک سب کےلئے ایک ہی قانون اور ایک ہی نظام عدالت ہو اور کسی کو قانونی امتیاز حاصل نہ ہو۔ قرون اولیٰ میں اسلامی تہذیب و معاشرت کا یہی طرۂ امتیاز رہا ہے۔</a:t>
            </a:r>
            <a:endParaRPr lang="en-US" sz="2100" dirty="0">
              <a:latin typeface="Jameel Noori Nastaleeq" pitchFamily="2" charset="-78"/>
              <a:cs typeface="Jameel Noori Nastaleeq" pitchFamily="2" charset="-78"/>
            </a:endParaRPr>
          </a:p>
          <a:p>
            <a:pPr lvl="0" algn="just" rtl="1"/>
            <a:r>
              <a:rPr lang="ur-PK" sz="2100" dirty="0">
                <a:latin typeface="Jameel Noori Nastaleeq" pitchFamily="2" charset="-78"/>
                <a:cs typeface="Jameel Noori Nastaleeq" pitchFamily="2" charset="-78"/>
              </a:rPr>
              <a:t>کسی بھی تہذیب کے قیام و بقا کےلئے نظریہ روح کی سی حیثیت رکھتا ہے جسکے ہونے سے زندگی برقرار رہتی ہے اور جسکے فقدان سے انسانی معاشرہ سے زندگی کا خاتمہ ہوجاتا ہے نظریہ سے محروم معاشرہ یا تو دوسرے معاشرے میں ضم ہوجاتا ہے یا کسی نظریاتی تمدن کے تابع مہمل بن جاتا ہے جس کا اپنا کوئی ذاتی وجود نہیں ہوتا۔ گویا کسی بھی تہذیب یا انسانی معاشرہ کا نظریہ کے بغیر وجود نا ممکن ہے۔</a:t>
            </a:r>
            <a:endParaRPr lang="en-US" sz="2100" dirty="0">
              <a:latin typeface="Jameel Noori Nastaleeq" pitchFamily="2" charset="-78"/>
              <a:cs typeface="Jameel Noori Nastaleeq" pitchFamily="2" charset="-78"/>
            </a:endParaRPr>
          </a:p>
          <a:p>
            <a:pPr algn="just" rtl="1"/>
            <a:r>
              <a:rPr lang="ur-PK" sz="2100" dirty="0">
                <a:latin typeface="Jameel Noori Nastaleeq" pitchFamily="2" charset="-78"/>
                <a:cs typeface="Jameel Noori Nastaleeq" pitchFamily="2" charset="-78"/>
              </a:rPr>
              <a:t>تعلیم اور تہذیب کاآپس میں گہرا ربط اور تعلق ہے اور درحقیقت تعلیم ہی کسی مکمل تہذیبی نظام کو دوسری نسلوں تک منتقل کرنے کا انتظام کرتی ہے جس میں یہ اہتمام کیا جاتا ہے کہ آنے والی نسلیں اپنے امتیازی تہذیبی وجود کو سمجھیں، اسے اپنائیں، اسکے سانچے میں اپنے افکارو کردار کو ڈھالیں نیز اسکی حفاظت کریں اور اسے ایسی نہج پر نشونما دیں کہ انکے تہذیبی وجود کے امتیازات پوری طرح محفوظ و برقرار رہیں۔</a:t>
            </a:r>
            <a:endParaRPr lang="en-US" sz="2100"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278960920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638800"/>
          </a:xfrm>
        </p:spPr>
        <p:txBody>
          <a:bodyPr>
            <a:noAutofit/>
          </a:bodyPr>
          <a:lstStyle/>
          <a:p>
            <a:pPr lvl="0" algn="just" rtl="1"/>
            <a:r>
              <a:rPr lang="ur-PK" sz="2000" dirty="0">
                <a:latin typeface="Jameel Noori Nastaleeq" pitchFamily="2" charset="-78"/>
                <a:cs typeface="Jameel Noori Nastaleeq" pitchFamily="2" charset="-78"/>
              </a:rPr>
              <a:t>اسلام اجتماعیت اور فطری معاشرت پسندی کا قائل ہے اور اسلام کے منفرد اصول معاشرت اسکی تائید کرتے ہیں۔ اسلامی تعلیمات کے مطابق اللہ نے انسان کی فطرت میں اجتماعیت کا شعور ودیعت کیا ہے اور اجتماعیت کی بنیادی احتیاجات کو اسکی شخصیت کا حصہ بنایا ہےاور اجتماعیت کی پہلی اکائی میاں بیوی کے تعلق کو شعور بخشا پھر اسے خاندانی و حدت کے مختلف اجزاء کی اہمیت کا ادراک عطا کیا گویا اسلامی نقطہ نظر سے اجتماعیت انسان کا فطری داعیہ و تقاضہ ہے جیسا کہ اللہ تعالیٰ نے سورۃ الروم کی آیت نمبر 21 میں اس فطری داعیہ اور مودت و رحمت کو اپنی عظیم نشانی قرار دیا ہے۔</a:t>
            </a:r>
            <a:endParaRPr lang="en-US" sz="2000" dirty="0">
              <a:latin typeface="Jameel Noori Nastaleeq" pitchFamily="2" charset="-78"/>
              <a:cs typeface="Jameel Noori Nastaleeq" pitchFamily="2" charset="-78"/>
            </a:endParaRPr>
          </a:p>
          <a:p>
            <a:pPr lvl="0" algn="just" rtl="1"/>
            <a:r>
              <a:rPr lang="ur-PK" sz="2000" dirty="0">
                <a:latin typeface="Jameel Noori Nastaleeq" pitchFamily="2" charset="-78"/>
                <a:cs typeface="Jameel Noori Nastaleeq" pitchFamily="2" charset="-78"/>
              </a:rPr>
              <a:t>اسلامی تعلیمات کے مطابق معاشرتی نظم کا سب سے بنیادی سبب اخلاقیات ہے جس کے بغیر معاشرتی نظم کا تصور ہی نہیں کیا جاسکتا اسی طرح معاشرتی نظم و استحکام میں بگاڑ کا اہم سبب اخلاقیات سے اعراض اور روگردانی کرنا ہے۔ اس حوالے سے سورۃ بنی اسرائیل کی آیت نمبر 16 ملاحظہ ہو جس میں اس بدیہی حقیقت کو خوبصورت پیرائے میں بیان کیا گیا ہے۔ نیز اس سلسلے میں نبی کریمؐ  کی سیرت مطھرہ سے بھی جو اخذ ہوتا ہے وہ یہ ہے کہ آپؐ نے معاشرتی و تہذیبی استحکام کےلئے اخلاقیات کی ترویج و نفاذ کےلئے ایسی بھرپور جدوجہد کی کہ امت مسلمہ تہذیبی میدان میں تمام اقوام عالم کی پیشواو امام بن گئی۔</a:t>
            </a:r>
            <a:endParaRPr lang="en-US" sz="2000" dirty="0">
              <a:latin typeface="Jameel Noori Nastaleeq" pitchFamily="2" charset="-78"/>
              <a:cs typeface="Jameel Noori Nastaleeq" pitchFamily="2" charset="-78"/>
            </a:endParaRPr>
          </a:p>
          <a:p>
            <a:pPr lvl="0" algn="just" rtl="1"/>
            <a:r>
              <a:rPr lang="ur-PK" sz="2000" dirty="0">
                <a:latin typeface="Jameel Noori Nastaleeq" pitchFamily="2" charset="-78"/>
                <a:cs typeface="Jameel Noori Nastaleeq" pitchFamily="2" charset="-78"/>
              </a:rPr>
              <a:t>اسلام وہ عالمگیر دین ہے جس میں بے مثال تہذیبی و حدت کا عکس نمایا ں نظر آتا ہے وہ ایسی عالمی تہذیبی و حدت ہے جسکی وسعت اور پائیداری کی مثال تاریخ میں کسی دوسری انسانی تہذیب میں ہمیں نظر نہیں  آتی۔ یہ تہذیبی و حدت اسلامی معاشرے میں فرائض و واجبات مذہبی شعائر اور اجتماعی تقریبات کے موقع پر زیادہ ابھر کر سامنے آتی ہے۔ متعدد مغربی مفکرین </a:t>
            </a:r>
            <a:r>
              <a:rPr lang="en-US" sz="2000" dirty="0">
                <a:latin typeface="Jameel Noori Nastaleeq" pitchFamily="2" charset="-78"/>
                <a:cs typeface="Jameel Noori Nastaleeq" pitchFamily="2" charset="-78"/>
              </a:rPr>
              <a:t>(Hamilton)</a:t>
            </a:r>
            <a:r>
              <a:rPr lang="ur-PK" sz="2000" dirty="0">
                <a:latin typeface="Jameel Noori Nastaleeq" pitchFamily="2" charset="-78"/>
                <a:cs typeface="Jameel Noori Nastaleeq" pitchFamily="2" charset="-78"/>
              </a:rPr>
              <a:t> ،  </a:t>
            </a:r>
            <a:r>
              <a:rPr lang="en-US" sz="2000" dirty="0">
                <a:latin typeface="Jameel Noori Nastaleeq" pitchFamily="2" charset="-78"/>
                <a:cs typeface="Jameel Noori Nastaleeq" pitchFamily="2" charset="-78"/>
              </a:rPr>
              <a:t>(Smith)</a:t>
            </a:r>
            <a:r>
              <a:rPr lang="ur-PK" sz="2000" dirty="0">
                <a:latin typeface="Jameel Noori Nastaleeq" pitchFamily="2" charset="-78"/>
                <a:cs typeface="Jameel Noori Nastaleeq" pitchFamily="2" charset="-78"/>
              </a:rPr>
              <a:t> وغیرہ نے اسلام کی منفرد تہذیبی و حدت کا اقرار اپنی مختلف تحریروں میں دل کھول کر کیا ہے۔</a:t>
            </a:r>
            <a:endParaRPr lang="en-US" sz="2000" dirty="0">
              <a:latin typeface="Jameel Noori Nastaleeq" pitchFamily="2" charset="-78"/>
              <a:cs typeface="Jameel Noori Nastaleeq" pitchFamily="2" charset="-78"/>
            </a:endParaRPr>
          </a:p>
          <a:p>
            <a:pPr algn="just" rtl="1"/>
            <a:r>
              <a:rPr lang="ur-PK" sz="2000" dirty="0">
                <a:latin typeface="Jameel Noori Nastaleeq" pitchFamily="2" charset="-78"/>
                <a:cs typeface="Jameel Noori Nastaleeq" pitchFamily="2" charset="-78"/>
              </a:rPr>
              <a:t>آنحضورؐ کے عہد کے مبارک غزوات جنکی کل تعداد تقریباً 28 ہے، کا بنیادی مقصد انسانی جانوں کی حفاظت اور انسانی مفادات کا تحفظ تھا۔ اور انہی غزوات کے ذریعے نبی کریمؐ نے انسانوں کو انسانوں کی خود ساختہ غلامی سے نجات دلائی۔ یہ اسلامی تہذیب کی وہ منفرد خصوصیت ہے جو اسے دیگر دنیاوی تہذیبوں سے ممتاز کردیتی ہے۔ اس بنیادی حقیقت کا اعتراف متعدد انصاف پسند تہذیبی تاریخ کے ماھرین اور مغربی فضلاء نے برملا کیا ہے ان میں مغربی فاضلہ </a:t>
            </a:r>
            <a:r>
              <a:rPr lang="en-US" sz="2000" dirty="0">
                <a:latin typeface="Jameel Noori Nastaleeq" pitchFamily="2" charset="-78"/>
                <a:cs typeface="Jameel Noori Nastaleeq" pitchFamily="2" charset="-78"/>
              </a:rPr>
              <a:t>(Mrs. Annie Besant)</a:t>
            </a:r>
            <a:r>
              <a:rPr lang="ur-PK" sz="2000" dirty="0">
                <a:latin typeface="Jameel Noori Nastaleeq" pitchFamily="2" charset="-78"/>
                <a:cs typeface="Jameel Noori Nastaleeq" pitchFamily="2" charset="-78"/>
              </a:rPr>
              <a:t> اور </a:t>
            </a:r>
            <a:r>
              <a:rPr lang="en-US" sz="2000" dirty="0">
                <a:latin typeface="Jameel Noori Nastaleeq" pitchFamily="2" charset="-78"/>
                <a:cs typeface="Jameel Noori Nastaleeq" pitchFamily="2" charset="-78"/>
              </a:rPr>
              <a:t>N.L </a:t>
            </a:r>
            <a:r>
              <a:rPr lang="en-US" sz="2000" dirty="0" err="1">
                <a:latin typeface="Jameel Noori Nastaleeq" pitchFamily="2" charset="-78"/>
                <a:cs typeface="Jameel Noori Nastaleeq" pitchFamily="2" charset="-78"/>
              </a:rPr>
              <a:t>Coulsen</a:t>
            </a:r>
            <a:r>
              <a:rPr lang="ur-PK" sz="2000" dirty="0">
                <a:latin typeface="Jameel Noori Nastaleeq" pitchFamily="2" charset="-78"/>
                <a:cs typeface="Jameel Noori Nastaleeq" pitchFamily="2" charset="-78"/>
              </a:rPr>
              <a:t> کے نام قابل ذکر ہیں۔</a:t>
            </a:r>
            <a:endParaRPr lang="en-US" sz="2000"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88878824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638800"/>
          </a:xfrm>
        </p:spPr>
        <p:txBody>
          <a:bodyPr>
            <a:noAutofit/>
          </a:bodyPr>
          <a:lstStyle/>
          <a:p>
            <a:pPr lvl="0" algn="just" rtl="1"/>
            <a:r>
              <a:rPr lang="ur-PK" sz="2100" dirty="0">
                <a:latin typeface="Jameel Noori Nastaleeq" pitchFamily="2" charset="-78"/>
                <a:cs typeface="Jameel Noori Nastaleeq" pitchFamily="2" charset="-78"/>
              </a:rPr>
              <a:t>اسلام ایک مکمل نظام زندگی ہے اور اس نظام زندگی کا فکری حصہ اسلامی تہذیب کہلاتی ہے۔ اس نقطہ نظر سے اسلامی تہذیب سے مراد انسان کی فکری زندگی ہے جس سے پوری نسل انسانی روشن ہوجاتی ہے اسلامی تہذیب روشنی کا وہ مینار ہے جس نے پوری دنیا کی تہذیبوں کو اپنے اندر سمیٹا اور متاثر کیا ہے۔ اسلامی تہذیب کی روح وہ بنیادی اصول ہیں جن پر ہمارے تہذیبی ڈھانچے کی استواری کا دارومدار ہے۔ ان اصولوں کو اسلامی تہذیب و تمدن کے عناصر ترکیبی اور منفرد خصوصیات بھی کہہ سکتے ہیں جو وحدت ربانی وحدت فکر انسانی جوابدہی کے تصور، عظمت انسانی کے نظریہ، تصور مساوات انسان، رہبانیت کی نفی، اخلاقیات کی غیر متزلزل اصول، قیام خیر اور رفع شر کے اصول پر مشتمل ہے۔</a:t>
            </a:r>
            <a:endParaRPr lang="en-US" sz="2100" dirty="0">
              <a:latin typeface="Jameel Noori Nastaleeq" pitchFamily="2" charset="-78"/>
              <a:cs typeface="Jameel Noori Nastaleeq" pitchFamily="2" charset="-78"/>
            </a:endParaRPr>
          </a:p>
          <a:p>
            <a:pPr lvl="0" algn="just" rtl="1"/>
            <a:r>
              <a:rPr lang="ur-PK" sz="2100" dirty="0">
                <a:latin typeface="Jameel Noori Nastaleeq" pitchFamily="2" charset="-78"/>
                <a:cs typeface="Jameel Noori Nastaleeq" pitchFamily="2" charset="-78"/>
              </a:rPr>
              <a:t>مولانا سید ابوالاعلیٰ مودودیؒ 25 ستمبر 1903ء کو ریاست حیدر آباد کے شہر اورنگ آباد میں پیدا ہوئے۔ آپؒ کے والد محترم کا نام سید احمد حسن تھا جو 1855ء کو دہلی میں پیدا ہوئے اور مدرسہ علی گڑھ کے ابتدائی دور کے طالبعلموں میں سے تھے تاہم وہ کچھ عرصہ بعد انگریزی تہذیب کے خلاف شدید نفرت کی وجہ سے مدرسہ علی گڑھ سے واپس آگئے۔</a:t>
            </a:r>
            <a:endParaRPr lang="en-US" sz="2100" dirty="0">
              <a:latin typeface="Jameel Noori Nastaleeq" pitchFamily="2" charset="-78"/>
              <a:cs typeface="Jameel Noori Nastaleeq" pitchFamily="2" charset="-78"/>
            </a:endParaRPr>
          </a:p>
          <a:p>
            <a:pPr lvl="0" algn="just" rtl="1"/>
            <a:r>
              <a:rPr lang="ur-PK" sz="2100" dirty="0">
                <a:latin typeface="Jameel Noori Nastaleeq" pitchFamily="2" charset="-78"/>
                <a:cs typeface="Jameel Noori Nastaleeq" pitchFamily="2" charset="-78"/>
              </a:rPr>
              <a:t>سید مودودی ؒ کے والد گرامی سید احمد حسن نے آپ کی ابتدائی تعلیم پر خصو صی توجہ دی چنا نچہ آپ 11 سال کی عمر تک قرآن وحدیث ، عربی اور اردو ادب کی تعلیم حاصل کرتے رہے پھر آپ کو مدرسہ فو قا نیہ میں آٹھو یں جما عت میں داخل کرا دیا گیا جہاں مختلف قا بل اسا تذہ کی صحبت کے اثرات سے سید مودودی ؒ کے نظریات میں وسعت پیدا ہوئی اور 1914ء میں انھوں نے میٹرک کا امتحان امتیازی حیثیت میں پا س کر کے سب کو حیران کر دیا ۔</a:t>
            </a:r>
            <a:endParaRPr lang="en-US" sz="2100" dirty="0">
              <a:latin typeface="Jameel Noori Nastaleeq" pitchFamily="2" charset="-78"/>
              <a:cs typeface="Jameel Noori Nastaleeq" pitchFamily="2" charset="-78"/>
            </a:endParaRPr>
          </a:p>
          <a:p>
            <a:pPr algn="just" rtl="1"/>
            <a:r>
              <a:rPr lang="ur-PK" sz="2100" dirty="0">
                <a:latin typeface="Jameel Noori Nastaleeq" pitchFamily="2" charset="-78"/>
                <a:cs typeface="Jameel Noori Nastaleeq" pitchFamily="2" charset="-78"/>
              </a:rPr>
              <a:t>مولانا مودودیؒ      کی عمر 15 سال تھی کہ آپ ؒ کے والد صاحب کا انتقال ہو گیا ۔ والد کی انتقال کے بعد مو لا نا نے </a:t>
            </a:r>
            <a:r>
              <a:rPr lang="ur-PK" sz="2100" dirty="0" smtClean="0">
                <a:latin typeface="Jameel Noori Nastaleeq" pitchFamily="2" charset="-78"/>
                <a:cs typeface="Jameel Noori Nastaleeq" pitchFamily="2" charset="-78"/>
              </a:rPr>
              <a:t>صحافت </a:t>
            </a:r>
            <a:r>
              <a:rPr lang="ur-PK" sz="2100" dirty="0">
                <a:latin typeface="Jameel Noori Nastaleeq" pitchFamily="2" charset="-78"/>
                <a:cs typeface="Jameel Noori Nastaleeq" pitchFamily="2" charset="-78"/>
              </a:rPr>
              <a:t>میں قدم رکھا اور مختلف اخبارات "مدینہ اور تا ج " نامی اخبار میں ایڈیٹر کے فرائض انجام دیتے رہے ۔ اس کے بعد اخبار مسلم اور الجمیعۃ میں چیف ایڈیٹر کے طور پر کام کیا </a:t>
            </a:r>
            <a:r>
              <a:rPr lang="ur-PK" sz="2100" dirty="0" smtClean="0">
                <a:latin typeface="Jameel Noori Nastaleeq" pitchFamily="2" charset="-78"/>
                <a:cs typeface="Jameel Noori Nastaleeq" pitchFamily="2" charset="-78"/>
              </a:rPr>
              <a:t>۔</a:t>
            </a:r>
            <a:endParaRPr lang="en-US" sz="2100" dirty="0" smtClean="0">
              <a:latin typeface="Jameel Noori Nastaleeq" pitchFamily="2" charset="-78"/>
              <a:cs typeface="Jameel Noori Nastaleeq" pitchFamily="2" charset="-78"/>
            </a:endParaRPr>
          </a:p>
          <a:p>
            <a:pPr algn="just" rtl="1"/>
            <a:r>
              <a:rPr lang="ur-PK" sz="2100" dirty="0">
                <a:latin typeface="Jameel Noori Nastaleeq" pitchFamily="2" charset="-78"/>
                <a:cs typeface="Jameel Noori Nastaleeq" pitchFamily="2" charset="-78"/>
              </a:rPr>
              <a:t>مو لا نا نے 1926ء کے بعد تصنیفی کام کا آغاز کیا ۔ اور ما ھنامہ "ترجمان القرآن " کا اجراء کیا جس کا بنیادی مقصد پیغام قرآن کی ترویج واشاعت تھا ۔ اِسی دور میں سید مودودیؒ نے اپنی شھرہ آفاق تصا نیف الجھاد فی الاسلام اور دینیات لکھیں ۔</a:t>
            </a:r>
            <a:endParaRPr lang="en-US" sz="2100"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88878824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638800"/>
          </a:xfrm>
        </p:spPr>
        <p:txBody>
          <a:bodyPr>
            <a:normAutofit fontScale="92500" lnSpcReduction="20000"/>
          </a:bodyPr>
          <a:lstStyle/>
          <a:p>
            <a:pPr lvl="0" algn="just" rtl="1"/>
            <a:r>
              <a:rPr lang="ur-PK" dirty="0">
                <a:latin typeface="Jameel Noori Nastaleeq" pitchFamily="2" charset="-78"/>
                <a:cs typeface="Jameel Noori Nastaleeq" pitchFamily="2" charset="-78"/>
              </a:rPr>
              <a:t>1935ء کے بعد مو لا نا مودودیؒ نے تحریک پا کستان کے حوا لے سے برصغیر کی سیا ست میں عملی طور پر حصہ لیا اور سب سے پہلے برصغیر کے مسلما نوں کے سا منے یہ تصور پیش کیا کہ وہ آزادیٰ ہند کی تا ریخ کا رخ حکو مت کفر سے حکومت حق کی طرف پھیرنے کی کوشش کریں اور اس مقصد کے لیے ایک ایسی سر فرو شانہ جنگ کے لیے تیار ہو جائیں جس کا انجام کا میا بی ہو یا موت۔</a:t>
            </a:r>
            <a:endParaRPr lang="en-US" dirty="0">
              <a:latin typeface="Jameel Noori Nastaleeq" pitchFamily="2" charset="-78"/>
              <a:cs typeface="Jameel Noori Nastaleeq" pitchFamily="2" charset="-78"/>
            </a:endParaRPr>
          </a:p>
          <a:p>
            <a:pPr lvl="0" algn="just" rtl="1"/>
            <a:r>
              <a:rPr lang="ur-PK" dirty="0">
                <a:latin typeface="Jameel Noori Nastaleeq" pitchFamily="2" charset="-78"/>
                <a:cs typeface="Jameel Noori Nastaleeq" pitchFamily="2" charset="-78"/>
              </a:rPr>
              <a:t>پا کستان بننے کے بعد 1953ء میں تحریک ختم نبوت پو رے جوش وولولے سے چلا ئی گئی ۔مولا نا مودودیؒ نے اس مبارک تحریک میں حصہ لیتے ہو ئے کتاب " قا دیانی مسئلہ " لکھ کر قرآن وحدیث سے استدلال کرتے ہو ئے قادیانیوں کو اقلیت قرار دینے کا مطا لبہ حکومت کے سا منے پیش کیا ۔ اس جرم کی پاداش میں مولانا کو 28 مارچ 1953ء کو پا بند سلاسل کر دیا گیا۔اس دوران لا ہور میں مارشل لاء کا نفاذ ہوا اور 11مئی 1953ء کو فوجی عدالت کے ذریعہ مولانا مودودیؒ کے لیے سزائے موت کا اعلان ہوا لیکن بعد میں زبر دست عوامی دباؤ کی وجہ سے سزائے موت کو 21سال قید با مشقت میں بدل دیا گیا ۔ لیکن 28اپریل 1955ء کو دو سال بعد ہی مو لا نا کو جیل سے رہا کر دیا گیا ۔</a:t>
            </a:r>
            <a:endParaRPr lang="en-US" dirty="0">
              <a:latin typeface="Jameel Noori Nastaleeq" pitchFamily="2" charset="-78"/>
              <a:cs typeface="Jameel Noori Nastaleeq" pitchFamily="2" charset="-78"/>
            </a:endParaRPr>
          </a:p>
          <a:p>
            <a:pPr algn="just" rtl="1"/>
            <a:r>
              <a:rPr lang="ur-PK" dirty="0">
                <a:latin typeface="Jameel Noori Nastaleeq" pitchFamily="2" charset="-78"/>
                <a:cs typeface="Jameel Noori Nastaleeq" pitchFamily="2" charset="-78"/>
              </a:rPr>
              <a:t>عہد حاضر میں جن مسلم مفکر ین و مصلحین نے فکر ونظر اور اسلامی تہذیب وتمدن کے میدان میں کار ہائے نما یاں انجام دیئے ان میں مو لا نا مودودیؒ کا نام قا بل ذکر ہے۔ مو لا نا ایک لحاظ سے پہلے مفکر اسلام ہیں جنھوں نے اسلامی نظام زندگی اور تہذیب و معاشرت کو انتہائی مر بوط ومنظم انداز میں پیش کیا انہوں نے اسلامی معاشرے کے اہم خدوخال کی وضاحت کرتے ہوئے اسکے قابل عمل نقشے کو امت مسلمہ کے سامنے رکھا اور اسلام کے معاشرتی نظام کو معذرت خواہانہ انداز میں پیش کرنے کی بجا ئے پورے یقین واعتماد اور مدلل انداز سے تمام عا لم انسا نیت کو اسلا می نظریہ حیات وتمدن کی طرف دعوت دی اور وہ تمام شکوک و شبہات مٹا دیئے جو جدید طبقہ کے دل و دماغ میں اسلام اور اسلامی نظام تہذیب وتمدن کےمتعلق مو جود تھے۔</a:t>
            </a:r>
            <a:endParaRPr lang="en-US"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88878824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638800"/>
          </a:xfrm>
        </p:spPr>
        <p:txBody>
          <a:bodyPr>
            <a:noAutofit/>
          </a:bodyPr>
          <a:lstStyle/>
          <a:p>
            <a:pPr lvl="0" algn="just" rtl="1"/>
            <a:r>
              <a:rPr lang="ur-PK" sz="2200" dirty="0">
                <a:latin typeface="Jameel Noori Nastaleeq" pitchFamily="2" charset="-78"/>
                <a:cs typeface="Jameel Noori Nastaleeq" pitchFamily="2" charset="-78"/>
              </a:rPr>
              <a:t>مو لا نا مودودی ؒ کے مطا بق اسلامی قو میت کے سوا دنیا میں جتنی قو میتیں بنی ہیں ان سب کی تعمیر نسلیت، وطنیت اشتراک زبان اور اشتراک رنگ پر ہے۔ مو لانا برصغیر کے وہ مسلم مفکر ہیں جنھوں نے قوم پرستی کے خلاف قلمی وعملی جہاد کیا اور اسلامی قو میت کے نظریے کی حقا نیت کو دلا ئل سے ثا بت کیا ۔ اس حوالے سے مو لا نا مودودی ؒ نے "مسئلہ قو میت" کے عنوان سے ایک مبسوط مقا لہ لکھا جس میں انھوں نے اسلام کے تصور قو میت کو قرآن و حدیث کے دلا ئل سے واضح کیا اور اس طرح وہ برصغیر میں اسلامی قو میت کے نقیب بن کر سا منے آئے ۔انھوں نے اپنے مخصوص انداز میں واضح کیا کہ کوئی بھی قوم کسی خطے یا جغرا فیائی لحاظ سے قوم نہیں بنتی بلکہ قوم تو ایک مخصوص نظریہ حیات سے بنتی ہے اس لیے اہل اسلام کا ہندوؤں کے ساتھ مل کر ایک قوم بننا قطعی غلط اور خلاف اسلام ہے ۔</a:t>
            </a:r>
            <a:endParaRPr lang="en-US" sz="2200" dirty="0">
              <a:latin typeface="Jameel Noori Nastaleeq" pitchFamily="2" charset="-78"/>
              <a:cs typeface="Jameel Noori Nastaleeq" pitchFamily="2" charset="-78"/>
            </a:endParaRPr>
          </a:p>
          <a:p>
            <a:pPr lvl="0" algn="just" rtl="1"/>
            <a:r>
              <a:rPr lang="ur-PK" sz="2200" dirty="0">
                <a:latin typeface="Jameel Noori Nastaleeq" pitchFamily="2" charset="-78"/>
                <a:cs typeface="Jameel Noori Nastaleeq" pitchFamily="2" charset="-78"/>
              </a:rPr>
              <a:t>مو لا نا مودودی ؒ کے نزدیک اگر اہل اسلام دین کے عقا ئد وعبادات کو قبول کر لیں مگر اس نظام زندگی کو ترک کر دیں جو اسلام نے ایک مثا لی معا شرے کے قیام کے لیے لازم قرار دیا ہےتو یہ اسلا می نقطہ نظر سے نہ صرف غلط ہے بلکہ جزوی ارتداد ہے کیو نکہ اسلامی تہذیب وتمدن کا قیام دین کا اولین اور بنیادی تقا ضا ہے اور اسی مقصد کی تکمیل کے لیے تمام انبیاء کرام ؑ مبعوث کیے گئے ۔</a:t>
            </a:r>
            <a:endParaRPr lang="en-US" sz="2200" dirty="0">
              <a:latin typeface="Jameel Noori Nastaleeq" pitchFamily="2" charset="-78"/>
              <a:cs typeface="Jameel Noori Nastaleeq" pitchFamily="2" charset="-78"/>
            </a:endParaRPr>
          </a:p>
          <a:p>
            <a:pPr algn="just" rtl="1"/>
            <a:r>
              <a:rPr lang="ur-PK" sz="2200" dirty="0">
                <a:latin typeface="Jameel Noori Nastaleeq" pitchFamily="2" charset="-78"/>
                <a:cs typeface="Jameel Noori Nastaleeq" pitchFamily="2" charset="-78"/>
              </a:rPr>
              <a:t>مو لا نا مودودی ؒ وہ اسلا می مفکر ہیں جنھوں نے عصر حاضر میں پیش کیے جا نے والے انسا نی حقوق کو اس کی سند اور قوت نافذ ہ کے ساتھ اسلام کی روشنی میں پیش کیا ہے اور بنیادی انسا نی حقوق کے ارتقاء کی تاریخ پر ناقدانہ نظر ڈالی ہے۔ مولانا کے مطابق مغربی دنیا میں انسانی حقوق کا تصور دو تین صدیوں سے پہلے اپنی کوئی تا ریخ نہیں رکھتا نیز اگر آج اس کا واویلا کیا جا رہا ہے تو اس کے پیچھے کوئی قوت نا فذہ  </a:t>
            </a:r>
            <a:r>
              <a:rPr lang="en-US" sz="2200" dirty="0">
                <a:latin typeface="Jameel Noori Nastaleeq" pitchFamily="2" charset="-78"/>
                <a:cs typeface="Jameel Noori Nastaleeq" pitchFamily="2" charset="-78"/>
              </a:rPr>
              <a:t>(Sanction)</a:t>
            </a:r>
            <a:r>
              <a:rPr lang="ur-PK" sz="2200" dirty="0">
                <a:latin typeface="Jameel Noori Nastaleeq" pitchFamily="2" charset="-78"/>
                <a:cs typeface="Jameel Noori Nastaleeq" pitchFamily="2" charset="-78"/>
              </a:rPr>
              <a:t>نہیں ہے بلکہ صرف خو ش نما خوا ہشات ہیں اس کے مقا بلے میں اسلام نے حقوق انسا نی کا جو منشور قرآن وحدیث میں دیا ہے وہ قدیم تر بھی ہے اور انتہائی جا مع ومکمل ہو نے کے سا تھ ساتھ فطرت انسانی کے بھی قریب تر ہے ۔</a:t>
            </a:r>
            <a:endParaRPr lang="en-US" sz="2200"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88878824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638800"/>
          </a:xfrm>
        </p:spPr>
        <p:txBody>
          <a:bodyPr>
            <a:noAutofit/>
          </a:bodyPr>
          <a:lstStyle/>
          <a:p>
            <a:pPr lvl="0" algn="just" rtl="1"/>
            <a:r>
              <a:rPr lang="ur-PK" sz="2100" dirty="0">
                <a:latin typeface="Jameel Noori Nastaleeq" pitchFamily="2" charset="-78"/>
                <a:cs typeface="Jameel Noori Nastaleeq" pitchFamily="2" charset="-78"/>
              </a:rPr>
              <a:t> مو لا نا مو دودیؒ انسان کے زما نی تقسیم کے قا ئل نہیں ہیں بلکہ وہ اس کی بجا ئے تا ریخی حر کت کے تسلسل کو ثا بت کرتے ہیں ان کے مطابق ایک نظام زندگی جو ایک دور میں حق ہو تا ہے دوسرے دور میں با طل نہیں ہو سکتا ۔ وہ ارتقاء کو تغیر کا ایک ایسا مجمو عہ سمجھتے ہیں جو تمام تغیرات کو اپنے اندر با قی رکھتے ہو ئے پیہم حرکت کرتا رہتا ہے ۔ اس طرح انسان کے تقاضے اور رجحا نات و میلا نات کبھی تبدیل نہیں ہوسکتے ۔ </a:t>
            </a:r>
            <a:endParaRPr lang="en-US" sz="2100" dirty="0">
              <a:latin typeface="Jameel Noori Nastaleeq" pitchFamily="2" charset="-78"/>
              <a:cs typeface="Jameel Noori Nastaleeq" pitchFamily="2" charset="-78"/>
            </a:endParaRPr>
          </a:p>
          <a:p>
            <a:pPr lvl="0" algn="just" rtl="1"/>
            <a:r>
              <a:rPr lang="ur-PK" sz="2100" dirty="0">
                <a:latin typeface="Jameel Noori Nastaleeq" pitchFamily="2" charset="-78"/>
                <a:cs typeface="Jameel Noori Nastaleeq" pitchFamily="2" charset="-78"/>
              </a:rPr>
              <a:t>مو لا نا مودودی ؒ کے نزدیک رھبا نیت یا ترک دنیا دین حق میں کبھی شا مل نہیں رہی بلکہ خود رھبا نیت کے لفظ سے خوفزدگی کا مطلب نکلتا ہے اور ارشاد ربا نی سے بھی یہی پتہ چلتا ہے کہ حضرت عیسیٰ ؑ کے متبعین نے رہبا نیت خود ایجاد کرلی تھی اس حوالے سے سورۃ الحدید کی آیت نمبر 27 ملاحظہ ہو ۔ مو لا نا کے مطا بق اسلام میں روحا نی ترقی کا راستہ ترک دنیا ہر گز نہیں ہے اور نہ ہی اللہ نے کہیں اس کا حکم دیا ہے حقیقت یہ ہے کہ ایک را ھب کی زندگی عدم تعاون اور ترک موالات کی زندگی بن جا تی ہے اور اس راہبا نہ نظریہ کی انسا نی فطرت سے مستقل جنگ رہتی ہے ۔</a:t>
            </a:r>
            <a:endParaRPr lang="en-US" sz="2100" dirty="0">
              <a:latin typeface="Jameel Noori Nastaleeq" pitchFamily="2" charset="-78"/>
              <a:cs typeface="Jameel Noori Nastaleeq" pitchFamily="2" charset="-78"/>
            </a:endParaRPr>
          </a:p>
          <a:p>
            <a:pPr algn="just" rtl="1"/>
            <a:r>
              <a:rPr lang="ur-PK" sz="2100" dirty="0">
                <a:latin typeface="Jameel Noori Nastaleeq" pitchFamily="2" charset="-78"/>
                <a:cs typeface="Jameel Noori Nastaleeq" pitchFamily="2" charset="-78"/>
              </a:rPr>
              <a:t>مو لا نا مودودیؒ کے مطا بق اسلا می تہذیب دنیا کی تما م تہذیبوں میں منفرد مقام رکھتی ہے اور انسا نی طبیعت اور فطرت کے عین مطا بق ہے اسلا می تہذیب پا نچ عناصر کی تکوین کا نام ہے ۔جو دنیاوی زندگی کا تصور ،زندگی کا نصب العین، اساسی عقا ئد وافکار ،تربیت افراد اور نظام اجتما عی پر مشتمل ہے ۔ مو لا نا مودودیؒ کے نزدیک اسلا می تہذیب کے مذکورہ عنا صر کا تجزیہ کیا جا ئے تو معلوم ہوتا ہے کہ اسلا می تہذیب جس مخصوص تصور اور خاص مقصد حیات پر قا ئم کی گئی ہے اس نے اس تہذیب کو دنیا کی تمام تہذیبوں سے ایک الگ امتیازی شکل دے دی ہے مو لا نا کے مطا بق اسلامی تہذیب کی تشکیل میں اس کے نصب العین کو انتہائی اہمیت حاصل ہے اور اسلام نے جو زندگی کا نصب العین مقرر کیا وہ دوسری تہذیبوں کے نصب ا لعین سے اصلاً مختلف ہے اور ظا ہر ہے کہ مقصد کے اختلاف سے اعتقاد وعمل کے نظام میں بنیادی اختلاف واقع ہوتا ہے لہٰذا اس کا منظقی نتیجہ یہ ہے کہ اسلام کے نصب العین نے ہی اسے ایک منفردومخصوص تہذیب بنا دیا ہے جو بنیادی طور پر دوسری تہذیبوں سے مختلف ہے ۔</a:t>
            </a:r>
            <a:endParaRPr lang="en-US" sz="2100"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88878824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638800"/>
          </a:xfrm>
        </p:spPr>
        <p:txBody>
          <a:bodyPr>
            <a:noAutofit/>
          </a:bodyPr>
          <a:lstStyle/>
          <a:p>
            <a:pPr lvl="0" algn="just" rtl="1"/>
            <a:r>
              <a:rPr lang="ur-PK" sz="2100" dirty="0">
                <a:latin typeface="Jameel Noori Nastaleeq" pitchFamily="2" charset="-78"/>
                <a:cs typeface="Jameel Noori Nastaleeq" pitchFamily="2" charset="-78"/>
              </a:rPr>
              <a:t>مو لا نا مودودی ؒ معا شرے میں ایک پر امن معا شرتی انقلاب کی راہ ہموار کر نے کے لیے ایک "عقلی ذھنی تہذیب" کا تصور پیش کرتے ہیں جو سب سے پہلے فکری میدان میں اپنا سکہ جما تی ہے پھر اس کے بعد ایک تحریک کی صورت میں غلط نظام زندگی کے خلاف جدو جہد کے لیے اٹھتی ہے اس مبارک جدو جہد کے علمبر دار آزما ئشوں کی بھٹی میں تپا ئے جا نے کے بعد سونا بن کر نکلتے ہیں اور اپنے ہر قول وفعل میں ایک مخصوص آئیڈ یا لو جی کے حا مل ہوتے ہیں اس لیے ایک اسلامی معا شرتی انقلاب ایسے ہی افراد کا </a:t>
            </a:r>
            <a:r>
              <a:rPr lang="ur-PK" sz="2100" dirty="0" smtClean="0">
                <a:latin typeface="Jameel Noori Nastaleeq" pitchFamily="2" charset="-78"/>
                <a:cs typeface="Jameel Noori Nastaleeq" pitchFamily="2" charset="-78"/>
              </a:rPr>
              <a:t>تقاضا </a:t>
            </a:r>
            <a:r>
              <a:rPr lang="ur-PK" sz="2100" dirty="0">
                <a:latin typeface="Jameel Noori Nastaleeq" pitchFamily="2" charset="-78"/>
                <a:cs typeface="Jameel Noori Nastaleeq" pitchFamily="2" charset="-78"/>
              </a:rPr>
              <a:t>کرتا ھے جو اوصاف سے آراستہ اور عیوب سے مبرا ہوں ۔</a:t>
            </a:r>
            <a:endParaRPr lang="en-US" sz="2100" dirty="0">
              <a:latin typeface="Jameel Noori Nastaleeq" pitchFamily="2" charset="-78"/>
              <a:cs typeface="Jameel Noori Nastaleeq" pitchFamily="2" charset="-78"/>
            </a:endParaRPr>
          </a:p>
          <a:p>
            <a:pPr lvl="0" algn="just" rtl="1"/>
            <a:r>
              <a:rPr lang="ur-PK" sz="2100" dirty="0">
                <a:latin typeface="Jameel Noori Nastaleeq" pitchFamily="2" charset="-78"/>
                <a:cs typeface="Jameel Noori Nastaleeq" pitchFamily="2" charset="-78"/>
              </a:rPr>
              <a:t>برصغیر میں سب سے پہلے جس مفکر نے تعلیم کو ایک صحت مند تہذیب کے قیام کے لیے لازم قرار دیا ہے وہ مو لا نا مودودی ؒ ہیں ۔ مولانا کے مطا بق جس معا شرے میں تعلیم کو بنیادی اہمیت دی جا تی ہے وہاں ایک بہترین تہذیب وجود میں آتی ہے مو لا نا نے تعلیم کا سائینٹیفک نظر سے تجزیہ کرتے ہو ئے تعلیم اور تہذیب کے با ہمی ربط کو خو بصورت انداز میں بیان کیا ہے کہ علم وتمدن کی ترقی کے موجب فلاح یا مو جب ہلا کت ہو نے کا تمام تر انحصار اس تہذیب پر ہے جس کے زیر اثر علوم و فنون اور تہذیب و حضارت کا ارتقاء ہو تا ہے نیز ہر درسگا ہ کی تعلیم ایک خاص رنگ وصورت میں ہو تی ہے اور اس رنگ وصورت کا انتخا ب خوب غور وفکر کے بعد اس مخصو ص تہذیب کی منا سبت سے کیا جا تا ہے جس کی خد مت وہ کرنا چا ہتی ہے۔تعلیم وہ تہذیب کے متعلق مو لا نا مودودی ؒ کا یہ نظریہ اور انقلا بی فکر عہد حا ضر میں امت مسلمہ کے لیے "امامت عا لم"  کی راہ کھول سکتا ہے ۔</a:t>
            </a:r>
            <a:endParaRPr lang="en-US" sz="2100" dirty="0">
              <a:latin typeface="Jameel Noori Nastaleeq" pitchFamily="2" charset="-78"/>
              <a:cs typeface="Jameel Noori Nastaleeq" pitchFamily="2" charset="-78"/>
            </a:endParaRPr>
          </a:p>
          <a:p>
            <a:pPr algn="just" rtl="1"/>
            <a:r>
              <a:rPr lang="ur-PK" sz="2100" dirty="0">
                <a:latin typeface="Jameel Noori Nastaleeq" pitchFamily="2" charset="-78"/>
                <a:cs typeface="Jameel Noori Nastaleeq" pitchFamily="2" charset="-78"/>
              </a:rPr>
              <a:t>عصرحا ضر میں جن مغرب نے اسلام قبول کیا ہے ان میں آسٹروی نو مسلم محمد اسدؒاپنے خا ندانی و مذہبی پس منظر نیز اسلام کے مآ خذ اساسی قرآن وحدیث کے اصول وتعلیمات سے گہری واقفیت ،اور جدید دنیا ئے اسلام کو درپیش مسائل کے حل وتجزیہ نیز احیائے اسلام کے لیے علمی وفکری اور عملی جد وجہد کے لیے اپنے (</a:t>
            </a:r>
            <a:r>
              <a:rPr lang="en-US" sz="2100" dirty="0">
                <a:latin typeface="Jameel Noori Nastaleeq" pitchFamily="2" charset="-78"/>
                <a:cs typeface="Jameel Noori Nastaleeq" pitchFamily="2" charset="-78"/>
              </a:rPr>
              <a:t>Contribution</a:t>
            </a:r>
            <a:r>
              <a:rPr lang="ur-PK" sz="2100" dirty="0">
                <a:latin typeface="Jameel Noori Nastaleeq" pitchFamily="2" charset="-78"/>
                <a:cs typeface="Jameel Noori Nastaleeq" pitchFamily="2" charset="-78"/>
              </a:rPr>
              <a:t>) کے اعتبار سے ایک نہا یت منفرد و بلند مقام رکھتے ہیں ۔محمد اسدؒکو اسلا می تہذیب وتمدن کے احیاء اور قیام کے لیے جد وجہد کی بنا پر عا لم میں جو شہرت ملی وہ کسی اور نو مسلم کو نہ مل </a:t>
            </a:r>
            <a:r>
              <a:rPr lang="ur-PK" sz="2100" dirty="0" smtClean="0">
                <a:latin typeface="Jameel Noori Nastaleeq" pitchFamily="2" charset="-78"/>
                <a:cs typeface="Jameel Noori Nastaleeq" pitchFamily="2" charset="-78"/>
              </a:rPr>
              <a:t>سکی۔</a:t>
            </a:r>
            <a:endParaRPr lang="en-US" sz="2100"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88878824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638800"/>
          </a:xfrm>
        </p:spPr>
        <p:txBody>
          <a:bodyPr>
            <a:noAutofit/>
          </a:bodyPr>
          <a:lstStyle/>
          <a:p>
            <a:pPr lvl="0" algn="just" rtl="1"/>
            <a:r>
              <a:rPr lang="ur-PK" sz="2100" dirty="0">
                <a:latin typeface="Jameel Noori Nastaleeq" pitchFamily="2" charset="-78"/>
                <a:cs typeface="Jameel Noori Nastaleeq" pitchFamily="2" charset="-78"/>
              </a:rPr>
              <a:t>محمد اسدؒ1900ء کو پو لینڈ کے شھر (</a:t>
            </a:r>
            <a:r>
              <a:rPr lang="en-US" sz="2100" dirty="0" err="1">
                <a:latin typeface="Jameel Noori Nastaleeq" pitchFamily="2" charset="-78"/>
                <a:cs typeface="Jameel Noori Nastaleeq" pitchFamily="2" charset="-78"/>
              </a:rPr>
              <a:t>Lwow</a:t>
            </a:r>
            <a:r>
              <a:rPr lang="ur-PK" sz="2100" dirty="0">
                <a:latin typeface="Jameel Noori Nastaleeq" pitchFamily="2" charset="-78"/>
                <a:cs typeface="Jameel Noori Nastaleeq" pitchFamily="2" charset="-78"/>
              </a:rPr>
              <a:t>) جو کہ اس وقت سلطنت آسٹریا کے زیر نگین تھا کے ایک یہودی ربّی گھرانے میں پیدا ہوئے ۔خا ندانی روایت کے مطا بق انھوں نے یہو دیت کی جملہ بنیادی کتب کا درس لیا ۔ اسدؒعنفوان شباب میں قدم رکھتے ہی اپنے تہذیبی وسما جی ماحول کے زیر اثر اپنے قدیم آبائی مذھب کے بارے میں تذبذب میں مبتلا ہوئے۔ اس وقت یورپ متحارب ومتصادم تہذیبی وسیا سی نظریات اور نظاموں کی آویزش کی آما جگاہ بن چکا تھا اور نو جوا ن نسل کسی معتبر اخلاقی اقدار کے فقدان کے سبب بے راہ روی کا شکار ہو رہی تھی ۔محمد اسدؒزندگی کے ان عادات و معمو لات سے مطمئن نہ تھے جو اس وقت یو رپی معاشرے میں را ئج تھے ۔ چنا نچہ وہ یہودی مذھب کے ساتھ ساتھ یورپ کی تہذیب و معاشرت سے بھی بیزار ہو گئے ۔</a:t>
            </a:r>
            <a:endParaRPr lang="en-US" sz="2100" dirty="0">
              <a:latin typeface="Jameel Noori Nastaleeq" pitchFamily="2" charset="-78"/>
              <a:cs typeface="Jameel Noori Nastaleeq" pitchFamily="2" charset="-78"/>
            </a:endParaRPr>
          </a:p>
          <a:p>
            <a:pPr lvl="0" algn="just" rtl="1"/>
            <a:r>
              <a:rPr lang="ur-PK" sz="2100" dirty="0">
                <a:latin typeface="Jameel Noori Nastaleeq" pitchFamily="2" charset="-78"/>
                <a:cs typeface="Jameel Noori Nastaleeq" pitchFamily="2" charset="-78"/>
              </a:rPr>
              <a:t>ذہنی و فکری کشمکش کی اس کیفیت میں 1922ء میں اسدؒ سیر وسیاحت  کی غرض سے مشرق وسطیٰ کے سفر پر روانہ ہوئے یہ سفر انکی زندگی کا ایک انتہائی اہم اور فیصلہ کن موڑ ثا بت ہوا یہ سفر محض دنیا کے ایک خطہ سے دوسرے خطے کا نہیں بلکہ ایک تہذیب و معاشرت سے دوسری تہذیب و معا شرت (اسلام) کی طرف ان کے سفر کا پیش خیمہ تھا۔یہ سفر ان کی زندگی میں ایک بہت بڑی تبدیلی یعنی قبول اسلام کی تمہید بن گیا ۔ محمد اسدؒنے مشرق وسطیٰ میں قیام کے دوران میں عربی و فارسی سیکھنے کے بعد اسلا می تہذیب و معا شرت کا وسیع مطا لعہ کیا اور اسلام کے اصول و تعلیمات سے اس قدر متا ثر ہو ئے کہ 1926ء میں اس کا نتیجہ مشرف بہ اسلام ہو نے کی صورت میں نکلا ۔</a:t>
            </a:r>
            <a:endParaRPr lang="en-US" sz="2100" dirty="0">
              <a:latin typeface="Jameel Noori Nastaleeq" pitchFamily="2" charset="-78"/>
              <a:cs typeface="Jameel Noori Nastaleeq" pitchFamily="2" charset="-78"/>
            </a:endParaRPr>
          </a:p>
          <a:p>
            <a:pPr algn="just" rtl="1"/>
            <a:r>
              <a:rPr lang="ur-PK" sz="2100" dirty="0">
                <a:latin typeface="Jameel Noori Nastaleeq" pitchFamily="2" charset="-78"/>
                <a:cs typeface="Jameel Noori Nastaleeq" pitchFamily="2" charset="-78"/>
              </a:rPr>
              <a:t>محمد اسدؒنے 1926ء سے 1932ء تک بطور مسلمان نجد وحجاز میں قیام کیا اور وہاں کے علماء سے کسب فیض کیا اس دوران جدید دنیا ئے اسلام کی دو عظیم تجدیدی واصلاحی تحریکوں ،محمد بن عبدالوھاب کی وھا بی تحریک اور شما لی افریقہ کی سنوسی تحریک سے ان کا ربط وتعلق قا ئم ہوا اور محمد اسدنے اپنی دینی تفکر کی تشکیل میں ان دو نوں تحریکوں کے اثرات قبول کیے۔اور انہی تحریکوں کے زیر اثر وہ تقلید و بدعات کے سخت مخا لف اور عملی زندگی میں رہنمائی کے لیے براہ راست قرآن و سنت کی طرف رجوع کے مسلک کے حامی بن کر سامنے آئے ۔ </a:t>
            </a:r>
            <a:endParaRPr lang="en-US" sz="2100"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88878824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638800"/>
          </a:xfrm>
        </p:spPr>
        <p:txBody>
          <a:bodyPr>
            <a:noAutofit/>
          </a:bodyPr>
          <a:lstStyle/>
          <a:p>
            <a:pPr lvl="0" algn="just" rtl="1"/>
            <a:r>
              <a:rPr lang="ur-PK" sz="2000" dirty="0">
                <a:latin typeface="Jameel Noori Nastaleeq" pitchFamily="2" charset="-78"/>
                <a:cs typeface="Jameel Noori Nastaleeq" pitchFamily="2" charset="-78"/>
              </a:rPr>
              <a:t>محمد اسدؒکے دینی تفکر کی تشکیل میں متنوع عوامل کارفرما نظر آتے ہیں ۔وہ علمائے متقدمین میں سے امام ابن حزم ظاھری ،امام ابن تیمیہ اور ان کے تلمیذ ابن قیم الجوزیہ سے متاثر نظرآتے ہیں ۔ اسدؒاپنی تحریروں میں ترک تقلید اور اجتھاد سے متعلق مسائل میں اپنے نقطہ نظر کی </a:t>
            </a:r>
            <a:r>
              <a:rPr lang="ur-PK" sz="2000" dirty="0" smtClean="0">
                <a:latin typeface="Jameel Noori Nastaleeq" pitchFamily="2" charset="-78"/>
                <a:cs typeface="Jameel Noori Nastaleeq" pitchFamily="2" charset="-78"/>
              </a:rPr>
              <a:t>تائید </a:t>
            </a:r>
            <a:r>
              <a:rPr lang="ur-PK" sz="2000" dirty="0">
                <a:latin typeface="Jameel Noori Nastaleeq" pitchFamily="2" charset="-78"/>
                <a:cs typeface="Jameel Noori Nastaleeq" pitchFamily="2" charset="-78"/>
              </a:rPr>
              <a:t>میں ان علماء کی آراء کو نقل کرتے ہیں۔نیز محمد اسدؒکی فکری تشکیل میں مفتی محمد عبدہ اور انکے تلمیذ محمد رشید رضا کے افکار رو خیا لات بھی کار فرما نظر آتے ہیں ۔ اسدؒنے ترجمہ وتفسیر قرآن کرتے ہو ئے مختلف مسائل میں اپنے مؤقف کی تا ئید میں کثرت سے ان دوحضرات کی آراء کو پیش کیا ہے ۔ اس کے علاوہ اسدؒنے اپنے ہمعصر مفکرین میں           علامہ اقبالؒ کے افکار  وخیا لات کو بھی جذب و قبول کیا ہے ۔</a:t>
            </a:r>
            <a:endParaRPr lang="en-US" sz="2000" dirty="0">
              <a:latin typeface="Jameel Noori Nastaleeq" pitchFamily="2" charset="-78"/>
              <a:cs typeface="Jameel Noori Nastaleeq" pitchFamily="2" charset="-78"/>
            </a:endParaRPr>
          </a:p>
          <a:p>
            <a:pPr lvl="0" algn="just" rtl="1"/>
            <a:r>
              <a:rPr lang="ur-PK" sz="2000" dirty="0">
                <a:latin typeface="Jameel Noori Nastaleeq" pitchFamily="2" charset="-78"/>
                <a:cs typeface="Jameel Noori Nastaleeq" pitchFamily="2" charset="-78"/>
              </a:rPr>
              <a:t>محمد اسدؒنے قبول اسلام کے بعد بطور خا ص مسلما نوں کے جدید تعلیم یا فتہ طبقات اور مغرب کے غیر مسلموں کو اپنی توجہ کا مرکز بنا یا اور ان کو اسلام کے اصول وتعلیمات سے متعارف کرانے کی غرض سے مختلف و متنوع موضو عات پر گراں قدر تصا نیف رقم کیں ۔انھوں نے اپنی تحریروں میں امت مسلمہ کو درپیش بنیادی مسائل کے حل اور اسلامی تہذیب کے احیاء کی تدابیر کو اپنی فکرکا موضوع بناتے ہو ئے مغربی تہذیب وتمدن کا تنقیدی و تحلیلی جا ئزہ پیش کیا اور اس کے مفاسد اور برپا کی ہوئی تباہ کا ریوں کو آشکار کیا ۔نیز اہل اسلام کو مغربی تہذیب وتمدن اور اس کے معاشی و سیا سی نظا موں کی تقلیدونقا لی سے باز رہنے کی تلقین بڑے ہی مؤثر انداز میں کی۔ مزید براں اسلامی نظریہ حیات  کی دیگر انسانوں کے تخلیق کردہ نظاموں پر برتری و فضیلت واضح کی۔ اور اسلامی نظریہ حیات کو دنیا ئے انسا نیت کو لاحق عوارض کے لیے ایک موثر تریاق کے طور پر پیش کیا ۔</a:t>
            </a:r>
            <a:endParaRPr lang="en-US" sz="2000" dirty="0">
              <a:latin typeface="Jameel Noori Nastaleeq" pitchFamily="2" charset="-78"/>
              <a:cs typeface="Jameel Noori Nastaleeq" pitchFamily="2" charset="-78"/>
            </a:endParaRPr>
          </a:p>
          <a:p>
            <a:pPr algn="just" rtl="1"/>
            <a:r>
              <a:rPr lang="ur-PK" sz="2000" dirty="0">
                <a:latin typeface="Jameel Noori Nastaleeq" pitchFamily="2" charset="-78"/>
                <a:cs typeface="Jameel Noori Nastaleeq" pitchFamily="2" charset="-78"/>
              </a:rPr>
              <a:t>محمد اسدؒنے فکر اسلامی پر اپنی کتاب </a:t>
            </a:r>
            <a:r>
              <a:rPr lang="en-US" sz="2000" dirty="0">
                <a:latin typeface="Jameel Noori Nastaleeq" pitchFamily="2" charset="-78"/>
                <a:cs typeface="Jameel Noori Nastaleeq" pitchFamily="2" charset="-78"/>
              </a:rPr>
              <a:t>(Islam at the Crossroads)</a:t>
            </a:r>
            <a:r>
              <a:rPr lang="ur-PK" sz="2000" dirty="0">
                <a:latin typeface="Jameel Noori Nastaleeq" pitchFamily="2" charset="-78"/>
                <a:cs typeface="Jameel Noori Nastaleeq" pitchFamily="2" charset="-78"/>
              </a:rPr>
              <a:t>میں اسلا می تہذیب و تمدن کا علمی وفکری طور پر پُر قوت دلائل سے دفاع کیا ہے جس نے مسلما نوں کے جدید تعلیم یا فتہ اور صاحب فکر طبقہ میں اپنے دین و تہذیب کی طرف سے خود اعتمادی اور یقین کی روح پھو نک دی۔ محمد اسدؒکی ان علمی و فکری کاوشوں بالخصوص اسلام اور اس کی تہذیب و معاشرت اور اس کے نظریہ اجتماع کے متعلق ان کے اقدامی طرز تحریر کو برصغیر اور عا لم عرب کے بعض ممتاز اھل دا نش نے نہایت قدر وتحسین کی نظر سے دیکھا ہے ان میں سید سلیمان ندوی ، عبدالماجد دریاآبادی ، سید ابوالحسن علی ندوی،محمد مارما ڈیوک پکتھال،سید حسین نصر ، علا مہ قبالؒ اور سید مودودیؒ کے نام </a:t>
            </a:r>
            <a:r>
              <a:rPr lang="ur-PK" sz="2000" dirty="0" smtClean="0">
                <a:latin typeface="Jameel Noori Nastaleeq" pitchFamily="2" charset="-78"/>
                <a:cs typeface="Jameel Noori Nastaleeq" pitchFamily="2" charset="-78"/>
              </a:rPr>
              <a:t>قابل </a:t>
            </a:r>
            <a:r>
              <a:rPr lang="ur-PK" sz="2000" dirty="0">
                <a:latin typeface="Jameel Noori Nastaleeq" pitchFamily="2" charset="-78"/>
                <a:cs typeface="Jameel Noori Nastaleeq" pitchFamily="2" charset="-78"/>
              </a:rPr>
              <a:t>ذکر ہیں ۔</a:t>
            </a:r>
            <a:endParaRPr lang="en-US" sz="2000"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88878824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638800"/>
          </a:xfrm>
        </p:spPr>
        <p:txBody>
          <a:bodyPr>
            <a:normAutofit/>
          </a:bodyPr>
          <a:lstStyle/>
          <a:p>
            <a:pPr lvl="0" algn="just" rtl="1"/>
            <a:r>
              <a:rPr lang="ur-PK" sz="2200" dirty="0">
                <a:latin typeface="Jameel Noori Nastaleeq" pitchFamily="2" charset="-78"/>
                <a:cs typeface="Jameel Noori Nastaleeq" pitchFamily="2" charset="-78"/>
              </a:rPr>
              <a:t>محمد اسدؒنے اھل مغرب کے سا منے اسلام کی دعوت بڑے حکیمانہ انداز میں پیش کی ہے ۔ انھوں نے اپنی تصا نیف کے ذریعے اسلام کو اس کی اصلی وحقیقی صورت میں اھل مغرب کے سا منے پیش کرنے اور اسلام  اور مسلما نوں کے متعلق ان کے قدیم تعصبات کے ازالہ کی ایک مؤ ثر اور کا میاب کوشش کی ھے ۔ان کی تصا نیف میں بالخصو ص   </a:t>
            </a:r>
            <a:r>
              <a:rPr lang="en-US" sz="2200" dirty="0">
                <a:latin typeface="Jameel Noori Nastaleeq" pitchFamily="2" charset="-78"/>
                <a:cs typeface="Jameel Noori Nastaleeq" pitchFamily="2" charset="-78"/>
              </a:rPr>
              <a:t>(The Road to Mecca)</a:t>
            </a:r>
            <a:r>
              <a:rPr lang="ur-PK" sz="2200" dirty="0">
                <a:latin typeface="Jameel Noori Nastaleeq" pitchFamily="2" charset="-78"/>
                <a:cs typeface="Jameel Noori Nastaleeq" pitchFamily="2" charset="-78"/>
              </a:rPr>
              <a:t>کو امریکہ و یورپ میں بڑی مقبولیت حاصل ہوئی۔ اور یہ کتا ب اھل مغرب کے لیے اسلام اور اسلامی تہذیب و معاشرت کو سمجھنے کے لیے ایک اچھی تقریب اور تمہید بن گئی ہے ۔ اور اس طرح ان کی تصا نیف کے مطا لعہ نے مغرب کے متعدد ممتاز نومسلموں کو اسلام کے درپرلا نے میں فیصلہ کن کردار ادا کیا ہے ۔ان میں معروف جرمن سفارتکار مراد ہوف مان، مریم جمیلہ اور جرمن نو مسلمہ فاطمہ کریم کے نام خاص طور پر قا بل ذکر ہیں۔ </a:t>
            </a:r>
            <a:endParaRPr lang="en-US" sz="2200" dirty="0">
              <a:latin typeface="Jameel Noori Nastaleeq" pitchFamily="2" charset="-78"/>
              <a:cs typeface="Jameel Noori Nastaleeq" pitchFamily="2" charset="-78"/>
            </a:endParaRPr>
          </a:p>
          <a:p>
            <a:pPr lvl="0" algn="just" rtl="1"/>
            <a:r>
              <a:rPr lang="ur-PK" sz="2200" dirty="0">
                <a:latin typeface="Jameel Noori Nastaleeq" pitchFamily="2" charset="-78"/>
                <a:cs typeface="Jameel Noori Nastaleeq" pitchFamily="2" charset="-78"/>
              </a:rPr>
              <a:t>محمد اسدؒبعض معاملات میں مخمصہ سے دو چار نظر آتے ہیں مثلاً وہ ایک طرف اجتماعی زندگی میں رشد وہدایت کی فراہمی اور خیروشر کے معیارات کے تعین میں عقل انسانی کی نارسائی اور کو تا ہی کو بڑی شدت سے اجا گر کرتے ہیں تو دوسری طرف جب وہ قرآن کی تفسیر کرتے ہیں تو عقل محض کو ایک اعلیٰ و برتر معیار بنا لیتے ہیں ۔خصو صاً معجزات اور دیگرغیبی امورکی معرفت و ادراک کے لیے عقل کو رہبر بنا لیتے ہیں اور آیات قرآنی کے مفا ہیم کو (</a:t>
            </a:r>
            <a:r>
              <a:rPr lang="en-US" sz="2200" dirty="0">
                <a:latin typeface="Jameel Noori Nastaleeq" pitchFamily="2" charset="-78"/>
                <a:cs typeface="Jameel Noori Nastaleeq" pitchFamily="2" charset="-78"/>
              </a:rPr>
              <a:t>Rationalize</a:t>
            </a:r>
            <a:r>
              <a:rPr lang="ur-PK" sz="2200" dirty="0">
                <a:latin typeface="Jameel Noori Nastaleeq" pitchFamily="2" charset="-78"/>
                <a:cs typeface="Jameel Noori Nastaleeq" pitchFamily="2" charset="-78"/>
              </a:rPr>
              <a:t>) کر دیتے ہیں اس طرح سے گو یا وہ عقل انسانی کی نا رسائی ونقص سے تعلق اپنے ہی نقطئہ نظر کو رد کر دیتے ہیں ۔</a:t>
            </a:r>
            <a:endParaRPr lang="en-US" sz="2200" dirty="0">
              <a:latin typeface="Jameel Noori Nastaleeq" pitchFamily="2" charset="-78"/>
              <a:cs typeface="Jameel Noori Nastaleeq" pitchFamily="2" charset="-78"/>
            </a:endParaRPr>
          </a:p>
          <a:p>
            <a:pPr algn="just" rtl="1"/>
            <a:r>
              <a:rPr lang="ur-PK" sz="2200" dirty="0">
                <a:latin typeface="Jameel Noori Nastaleeq" pitchFamily="2" charset="-78"/>
                <a:cs typeface="Jameel Noori Nastaleeq" pitchFamily="2" charset="-78"/>
              </a:rPr>
              <a:t>محمد اسدؒکے فہم وتصور اسلام کے مطا بق اسلام محض چندمعتقدات و عبادات کے مجمو عے کا نام نہیں بلکہ وہ ایک مکمل نظریہ حیات ہے اور انفرادی واجتما عی زندگی کی تنظیم وتشکیل کے متعلق کا مل ھدا یت فرا ہم کرتا ہے ۔ چنا نچہ اسدؒاسلام کو افراد کی نجی زندگی ہی میں نہیں بلکہ امت مسلمہ کی اجتما عی زندگی کے جملہ شعبوں میں مکمل طور پر جاری و نافذ دیکھنا چاہتے ہیں ۔</a:t>
            </a:r>
            <a:endParaRPr lang="en-US" sz="2200"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278960920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638800"/>
          </a:xfrm>
        </p:spPr>
        <p:txBody>
          <a:bodyPr>
            <a:noAutofit/>
          </a:bodyPr>
          <a:lstStyle/>
          <a:p>
            <a:pPr lvl="0" algn="just" rtl="1"/>
            <a:r>
              <a:rPr lang="ur-PK" sz="2000" dirty="0">
                <a:latin typeface="Jameel Noori Nastaleeq" pitchFamily="2" charset="-78"/>
                <a:cs typeface="Jameel Noori Nastaleeq" pitchFamily="2" charset="-78"/>
              </a:rPr>
              <a:t>محمد اسدؒنظام تعلیم کی اصلاح اور اسلا می قا نون کی تدوین جدید کو بڑی اہمیت دیتے ہیں انکے نزدیک معا شرہ کی اسلا می تشکیل کی غرض سے </a:t>
            </a:r>
            <a:r>
              <a:rPr lang="ur-PK" sz="2000" dirty="0" smtClean="0">
                <a:latin typeface="Jameel Noori Nastaleeq" pitchFamily="2" charset="-78"/>
                <a:cs typeface="Jameel Noori Nastaleeq" pitchFamily="2" charset="-78"/>
              </a:rPr>
              <a:t>نوجوان </a:t>
            </a:r>
            <a:r>
              <a:rPr lang="ur-PK" sz="2000" dirty="0">
                <a:latin typeface="Jameel Noori Nastaleeq" pitchFamily="2" charset="-78"/>
                <a:cs typeface="Jameel Noori Nastaleeq" pitchFamily="2" charset="-78"/>
              </a:rPr>
              <a:t>نسل کی دینی تر بیت از حد ضروری ہے ۔ وہ اس غرض سے سکو لوں اور کا لجوں میں عربی زبان اور اسلامیات کی مؤ ثر تعلیم وتدریس کو از حد ضروری قرار دیتے ہیں اور اس حوالے سے اعلیٰ پیما نے پر اسلامیات کی تعلیم وتدریس کا انتظام چا ہتے ہیں ۔ خصو صاً قانون اسلا می کے تدوین جدید جیسے اھم کام کے متعلق اجتھاد کی صلا حیت سے بہر ہ ور علماء کی تیاری کے لیے ایک جدید اسلامی دارالعلوم کے قیام کی تجویز پیش کرتے ہیں ۔وہ اس سلسلہ میں جا معہ ازھر کے تعلیمی ماڈل میں جدید عمرا نی علوم شامل کر کے ایک نیا تعلیمی ماڈل تشکیل دینا چا ہتے ہیں۔</a:t>
            </a:r>
            <a:endParaRPr lang="en-US" sz="2000" dirty="0">
              <a:latin typeface="Jameel Noori Nastaleeq" pitchFamily="2" charset="-78"/>
              <a:cs typeface="Jameel Noori Nastaleeq" pitchFamily="2" charset="-78"/>
            </a:endParaRPr>
          </a:p>
          <a:p>
            <a:pPr lvl="0" algn="just" rtl="1"/>
            <a:r>
              <a:rPr lang="ur-PK" sz="2000" dirty="0">
                <a:latin typeface="Jameel Noori Nastaleeq" pitchFamily="2" charset="-78"/>
                <a:cs typeface="Jameel Noori Nastaleeq" pitchFamily="2" charset="-78"/>
              </a:rPr>
              <a:t>محمد اسدؒکے نزدیک اسلا می تہذیب و معاشرت میں قا ئم اسلا می ریاست اپنی نو عیت و ماہیت میں نہ تو پاپائیت </a:t>
            </a:r>
            <a:r>
              <a:rPr lang="en-US" sz="2000" dirty="0">
                <a:latin typeface="Jameel Noori Nastaleeq" pitchFamily="2" charset="-78"/>
                <a:cs typeface="Jameel Noori Nastaleeq" pitchFamily="2" charset="-78"/>
              </a:rPr>
              <a:t>(Theocracy)</a:t>
            </a:r>
            <a:r>
              <a:rPr lang="ur-PK" sz="2000" dirty="0">
                <a:latin typeface="Jameel Noori Nastaleeq" pitchFamily="2" charset="-78"/>
                <a:cs typeface="Jameel Noori Nastaleeq" pitchFamily="2" charset="-78"/>
              </a:rPr>
              <a:t> ہے اور نہ ہی ملو کیت </a:t>
            </a:r>
            <a:r>
              <a:rPr lang="en-US" sz="2000" dirty="0">
                <a:latin typeface="Jameel Noori Nastaleeq" pitchFamily="2" charset="-78"/>
                <a:cs typeface="Jameel Noori Nastaleeq" pitchFamily="2" charset="-78"/>
              </a:rPr>
              <a:t>(Dictatorship)</a:t>
            </a:r>
            <a:r>
              <a:rPr lang="ur-PK" sz="2000" dirty="0">
                <a:latin typeface="Jameel Noori Nastaleeq" pitchFamily="2" charset="-78"/>
                <a:cs typeface="Jameel Noori Nastaleeq" pitchFamily="2" charset="-78"/>
              </a:rPr>
              <a:t>ہے ۔ بلکہ جمہوریہ ہے ۔ان کی رائے میں جمہوری طرزِ حکومت اسلام کے نظام حکمرانی کے مقاصد اور روح سے زیادہ ہم آھنگ ہے اور ملوکیت و آمریت اسلام کے نظریہ سیاست و معاشرت کے با لکل ویسے ہی منا فی ہے جیسے شرک عقیدہ تو حید سے متصادم ہے ۔</a:t>
            </a:r>
            <a:endParaRPr lang="en-US" sz="2000" dirty="0">
              <a:latin typeface="Jameel Noori Nastaleeq" pitchFamily="2" charset="-78"/>
              <a:cs typeface="Jameel Noori Nastaleeq" pitchFamily="2" charset="-78"/>
            </a:endParaRPr>
          </a:p>
          <a:p>
            <a:pPr lvl="0" algn="just" rtl="1"/>
            <a:r>
              <a:rPr lang="ur-PK" sz="2000" dirty="0">
                <a:latin typeface="Jameel Noori Nastaleeq" pitchFamily="2" charset="-78"/>
                <a:cs typeface="Jameel Noori Nastaleeq" pitchFamily="2" charset="-78"/>
              </a:rPr>
              <a:t>محمد اسدؒکے نزدیک اسلام کے نظریہ جھاد کی اصل روح یہ ہے کہ اسلام کے مزاج معا شرت و سیاست میں جھادبالسیف کی اجازت صرف مدا فعانہ مقاصد کے لیے دی گئی ہے اور اسلام اپنے پیروکاروں کو جار حا نہ جنگ کی اجازت ہر گز نہیں دیتا۔ البتہ محمد اسدؒکے مذکورہ تصور جھاد کا نمایاں پہلو یہ ہے کہ وہ سر سید احمد خان اور انکے ہم خیال مصلحین کے برعکس عہد حاضر میں استعماری طاقتوں کی مسلم ممالک پر جارحیت اور انکے ناجائز غلبہ و تسلط کے خلاف مزاحمت و مسلح جدوجہد کو جائز سمجھتے ہیں اور وہ آزادی و حریت کی جنگوں کو ’’قتال فی سبیل اللہ‘‘ قرار دیتے ہیں۔</a:t>
            </a:r>
            <a:endParaRPr lang="en-US" sz="2000" dirty="0">
              <a:latin typeface="Jameel Noori Nastaleeq" pitchFamily="2" charset="-78"/>
              <a:cs typeface="Jameel Noori Nastaleeq" pitchFamily="2" charset="-78"/>
            </a:endParaRPr>
          </a:p>
          <a:p>
            <a:pPr algn="just" rtl="1"/>
            <a:r>
              <a:rPr lang="ur-PK" sz="2000" dirty="0">
                <a:latin typeface="Jameel Noori Nastaleeq" pitchFamily="2" charset="-78"/>
                <a:cs typeface="Jameel Noori Nastaleeq" pitchFamily="2" charset="-78"/>
              </a:rPr>
              <a:t>محمد اسدؒکے فکر اور تصور اسلام میں فریضہ اقا مت دین کو بڑی اہمیت حاصل ہے وہ پیغمبر ؑ کے پیش کردہ اسلامی نظریہ حیات کو امت مسلمہ کی اجتماعی زندگی میں عملاً بر پا کرنے اور اس کے مطا بق عا لم کی تہذیبی و معاشرتی نظام کی تشکیل کے لیے عملی وفکری جدوجہد کو افراد امت کا ایک لازمی دینی و اخلاقی فریضہ خیال کرتے ہیں ۔</a:t>
            </a:r>
            <a:endParaRPr lang="en-US" sz="2000"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242115988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638800"/>
          </a:xfrm>
        </p:spPr>
        <p:txBody>
          <a:bodyPr>
            <a:normAutofit/>
          </a:bodyPr>
          <a:lstStyle/>
          <a:p>
            <a:pPr lvl="0" algn="just" rtl="1">
              <a:lnSpc>
                <a:spcPct val="110000"/>
              </a:lnSpc>
            </a:pPr>
            <a:r>
              <a:rPr lang="ur-PK" sz="2200" dirty="0">
                <a:latin typeface="Jameel Noori Nastaleeq" pitchFamily="2" charset="-78"/>
                <a:cs typeface="Jameel Noori Nastaleeq" pitchFamily="2" charset="-78"/>
              </a:rPr>
              <a:t>علامہ محمداقبالؒ اور مولا نا مودودی ؒ کی طرح محمد اسدؒنے بھی مغربی قو میت کے تصور کی پر زور اور مدلل طریقے سے تردید کی ہے اور اسے اسلامی تصور حیات سے متصادم قرار دیا ہے ۔اسد کے مطا بق اسلامی نظریہ قو میت کے حوا لے سے مسلمان ایک نظریاتی ملت ہیں نہ کہ نسلی ولسانی قوم اور مسلما نوں کی قو میت کی بنیاد صرف اور صرف نظریہ اسلام ہے۔</a:t>
            </a:r>
            <a:endParaRPr lang="en-US" sz="2200" dirty="0">
              <a:latin typeface="Jameel Noori Nastaleeq" pitchFamily="2" charset="-78"/>
              <a:cs typeface="Jameel Noori Nastaleeq" pitchFamily="2" charset="-78"/>
            </a:endParaRPr>
          </a:p>
          <a:p>
            <a:pPr lvl="0" algn="just" rtl="1">
              <a:lnSpc>
                <a:spcPct val="110000"/>
              </a:lnSpc>
            </a:pPr>
            <a:r>
              <a:rPr lang="ur-PK" sz="2200" dirty="0">
                <a:latin typeface="Jameel Noori Nastaleeq" pitchFamily="2" charset="-78"/>
                <a:cs typeface="Jameel Noori Nastaleeq" pitchFamily="2" charset="-78"/>
              </a:rPr>
              <a:t>محمد اسدؒکے نزدیک قرآن و سنت کے ظواہر نصوص ہی اصل شریعت ہیں اور اسلام کا حقیقی و اصلی قا نون صرف انہی اوامرو نواہی پر مشتمل ہے جو قرآن حکیم اور سنت رسول اللہ ﷺ میں صراحتاً بیان ہوئے ہیں اور جن کی تفہیم وتشریح میں کسی اختلاف کی کوئی گنجائش باقی نہیں رہتی۔ اس طرح محمد اسدؒکے مطا بق صرف قرآن و سنت ہی حقیقی شریعت اور اسلام کے ابدی و دائمی قا نون ہیں اور فقہ یعنی انسانی اجتھادات شریعت کا جزو نہیں ہیں اور وقت اور زمانے کے تقا ضوں کا لحاظ رکھتے ہوئے یہ قا بل ترمیم و تنسیخ ہوتے ہیں۔ اس طرح محمد اسدؒصریح طور پر شریعت اور فقہ میں امتیاز کرتے ہیں ۔</a:t>
            </a:r>
            <a:endParaRPr lang="en-US" sz="2200" dirty="0">
              <a:latin typeface="Jameel Noori Nastaleeq" pitchFamily="2" charset="-78"/>
              <a:cs typeface="Jameel Noori Nastaleeq" pitchFamily="2" charset="-78"/>
            </a:endParaRPr>
          </a:p>
          <a:p>
            <a:pPr algn="just" rtl="1">
              <a:lnSpc>
                <a:spcPct val="110000"/>
              </a:lnSpc>
            </a:pPr>
            <a:r>
              <a:rPr lang="ur-PK" sz="2200" dirty="0">
                <a:latin typeface="Jameel Noori Nastaleeq" pitchFamily="2" charset="-78"/>
                <a:cs typeface="Jameel Noori Nastaleeq" pitchFamily="2" charset="-78"/>
              </a:rPr>
              <a:t>محمد اسدؒعہد حاضر میں اجتھاد کی ضرورت و اہمیت اور دائرہ کار کے ضمن میں ایک منفرد اور جدید را ئے رکھتے ہیں ۔ ان کی را ئے میں قدیم فقہی سر ما یہ عصر جدید کے تقا ضوں کے سلسلے میں فرسودہ اور نا کافی ہے کیو نکہ جدید دور میں ایسے بے شمار نئے مسا ئل جنکا تعلق معاشرتی و معا شی زندگی سے ہے،منظر عام پر آئے ہیں کہ جن کا حل فقہ قدیم میں نہیں ملتا </a:t>
            </a:r>
            <a:r>
              <a:rPr lang="ur-PK" sz="2200" dirty="0" smtClean="0">
                <a:latin typeface="Jameel Noori Nastaleeq" pitchFamily="2" charset="-78"/>
                <a:cs typeface="Jameel Noori Nastaleeq" pitchFamily="2" charset="-78"/>
              </a:rPr>
              <a:t>۔ اس طرح محمداسدؒ قدیم فقہا ء کے اجتھادات کی اندھی تقلید و پیروی کو سختی سے رد کرتے ہیں۔ ان کے نزدیک اسلامی معاشرے کے احیا اور بقا کے لیے ہمیں اندھی تقلید سے جان چھڑا تے ہو ئے اجتھاد کی روح کو صحیح معنوں میں زندہ کرناہو گا ۔اور اس طرح ہم اپنے تہذیبی و معا شرتی جمود و انحطاط پر قا بو پا سکتے ہیں۔</a:t>
            </a:r>
            <a:endParaRPr lang="en-US" sz="2200"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242115988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638800"/>
          </a:xfrm>
        </p:spPr>
        <p:txBody>
          <a:bodyPr>
            <a:noAutofit/>
          </a:bodyPr>
          <a:lstStyle/>
          <a:p>
            <a:pPr lvl="0" algn="just" rtl="1"/>
            <a:r>
              <a:rPr lang="ur-PK" sz="2400" dirty="0">
                <a:latin typeface="Jameel Noori Nastaleeq" pitchFamily="2" charset="-78"/>
                <a:cs typeface="Jameel Noori Nastaleeq" pitchFamily="2" charset="-78"/>
              </a:rPr>
              <a:t>علامہ اسدؒکی رائے میں کسی تہذیب کی فضیلت و برتری کا معیار اس کی داخلی اخلاقی و روحانی قوت میں مضمر </a:t>
            </a:r>
            <a:r>
              <a:rPr lang="ur-PK" sz="2400" dirty="0" smtClean="0">
                <a:latin typeface="Jameel Noori Nastaleeq" pitchFamily="2" charset="-78"/>
                <a:cs typeface="Jameel Noori Nastaleeq" pitchFamily="2" charset="-78"/>
              </a:rPr>
              <a:t>ہے۔اس </a:t>
            </a:r>
            <a:r>
              <a:rPr lang="ur-PK" sz="2400" dirty="0">
                <a:latin typeface="Jameel Noori Nastaleeq" pitchFamily="2" charset="-78"/>
                <a:cs typeface="Jameel Noori Nastaleeq" pitchFamily="2" charset="-78"/>
              </a:rPr>
              <a:t>لحاظ سے اسدؒجب اسلامی تہذیب کا مغربی تہذیب سے موازنہ کرتے ہیں تو انہیں اسلامی تہذیب صرف مغربی تہذیب ہی پر نہیں بلکہ دنیا کی دیگر تمام تہذیبوں پر فا ئق و برتر نظر آتی ہے ۔اسد اس امر پر پختہ یقین رکھتے ہیں کہ اسلام کے انفرادی و اجتما عی اخلاقی اقدار مثلاً عدل وانصاف، اخوت، ایثار اور حریت و مساوات اور ان کے متعلق اسلامی تصورات مغر بی تہذیب کے تصورات سے قطعی طور پر ارفع و اعلیٰ ہیں ۔ نیز اسلام نے نسلی و قومی عصبیت کو متروک قرار دے کر اخوت و مساوات کے لیے راہ ہموار کی جبکہ مغربی تہذیب اب تک نسلی وقومی مخاصمتوں کے تنگ دا ئروں سے نکلنے میں نا کام رہی ہے۔</a:t>
            </a:r>
            <a:endParaRPr lang="en-US" sz="2400" dirty="0">
              <a:latin typeface="Jameel Noori Nastaleeq" pitchFamily="2" charset="-78"/>
              <a:cs typeface="Jameel Noori Nastaleeq" pitchFamily="2" charset="-78"/>
            </a:endParaRPr>
          </a:p>
          <a:p>
            <a:pPr lvl="0" algn="just" rtl="1"/>
            <a:r>
              <a:rPr lang="ur-PK" sz="2400" dirty="0">
                <a:latin typeface="Jameel Noori Nastaleeq" pitchFamily="2" charset="-78"/>
                <a:cs typeface="Jameel Noori Nastaleeq" pitchFamily="2" charset="-78"/>
              </a:rPr>
              <a:t>علامہ اسدؒمغر بی تہذہب وتمدن اور اس کے سماجی اقدار پر کڑی تنقید کے باوجود اسے کلی طور پر مسترد نہیں کرتے ان کی رائے میں مغر بی تہذیب کے بعض پہلو سیکولرزم، قومیت پرستی ،مادیت پرستی اور اخلاقی بے راہ روی مسترد کیے جانے کےقابل ہیں جبکہ بعض دوسرے پہلو مثلاً  مختلف سا ئنسی علوم و فنون میں مغر ب کے اجتھادات وتجر بات ایسے ہیں جن سے استفادہ نا گزیرہے۔گو یا محمد اسدؒمغر بی تہذیب سے اس کے فاسد و صالح اجزاء میں فرق و امتیاز کرتے ہوئے "خذ ما صفا ودع ما کدر" کے اصول کی روشنی میں </a:t>
            </a:r>
            <a:r>
              <a:rPr lang="ur-PK" sz="2400" dirty="0" smtClean="0">
                <a:latin typeface="Jameel Noori Nastaleeq" pitchFamily="2" charset="-78"/>
                <a:cs typeface="Jameel Noori Nastaleeq" pitchFamily="2" charset="-78"/>
              </a:rPr>
              <a:t>مغربی </a:t>
            </a:r>
            <a:r>
              <a:rPr lang="ur-PK" sz="2400" dirty="0">
                <a:latin typeface="Jameel Noori Nastaleeq" pitchFamily="2" charset="-78"/>
                <a:cs typeface="Jameel Noori Nastaleeq" pitchFamily="2" charset="-78"/>
              </a:rPr>
              <a:t>تہذیب سے اخذ و اکتساب کے حق میں ہیں۔ </a:t>
            </a:r>
            <a:r>
              <a:rPr lang="ur-PK" sz="2400" dirty="0" smtClean="0">
                <a:latin typeface="Jameel Noori Nastaleeq" pitchFamily="2" charset="-78"/>
                <a:cs typeface="Jameel Noori Nastaleeq" pitchFamily="2" charset="-78"/>
              </a:rPr>
              <a:t>تاہم </a:t>
            </a:r>
            <a:r>
              <a:rPr lang="ur-PK" sz="2400" dirty="0">
                <a:latin typeface="Jameel Noori Nastaleeq" pitchFamily="2" charset="-78"/>
                <a:cs typeface="Jameel Noori Nastaleeq" pitchFamily="2" charset="-78"/>
              </a:rPr>
              <a:t>وہ مغربی فلسفہ و فکر کے کسی بھی جز کو اخذو جذب کرنے کے حق میں نہیں ہیں </a:t>
            </a:r>
            <a:r>
              <a:rPr lang="ur-PK" sz="2400" dirty="0" smtClean="0">
                <a:latin typeface="Jameel Noori Nastaleeq" pitchFamily="2" charset="-78"/>
                <a:cs typeface="Jameel Noori Nastaleeq" pitchFamily="2" charset="-78"/>
              </a:rPr>
              <a:t>۔</a:t>
            </a:r>
            <a:endParaRPr lang="en-US" sz="2400"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242115988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638800"/>
          </a:xfrm>
        </p:spPr>
        <p:txBody>
          <a:bodyPr>
            <a:normAutofit/>
          </a:bodyPr>
          <a:lstStyle/>
          <a:p>
            <a:pPr algn="just" rtl="1"/>
            <a:r>
              <a:rPr lang="ur-PK" sz="2200" dirty="0">
                <a:latin typeface="Jameel Noori Nastaleeq" pitchFamily="2" charset="-78"/>
                <a:cs typeface="Jameel Noori Nastaleeq" pitchFamily="2" charset="-78"/>
              </a:rPr>
              <a:t>مو لا نا مودوی ؒ اور علا مہ اسد ؒ دو نوں مفکرین نے اسلامی تہذیب و معاشرت میں دین و دنیا کی تفریق کو اسلام کے معاشرتی نظام میں دراڑیں ڈا لنے کے مترادف قرار دیا ہے ۔ان کے مطا بق اسلامی معا شرے میں دین و دنیا کا چو لی دامن کا ساتھ ہوتا ہے ۔ اور وہ معاشرت لعنت ہے جو مذھب سے آزاد ہوا ور وہ مذھب غیر مطلوب ہے جو انسا نی زندگی پر سب سے زیادہ اثر انداز ہو نے والی تہذیب و معاشرت کی اصلاح نہیں کرتا اور اسلام اس دین و دنیا کی غیر فطری تفریق کو ختم کرنا چا ہتا ہے۔</a:t>
            </a:r>
            <a:endParaRPr lang="en-US" sz="2200" dirty="0">
              <a:latin typeface="Jameel Noori Nastaleeq" pitchFamily="2" charset="-78"/>
              <a:cs typeface="Jameel Noori Nastaleeq" pitchFamily="2" charset="-78"/>
            </a:endParaRPr>
          </a:p>
          <a:p>
            <a:pPr algn="just" rtl="1"/>
            <a:r>
              <a:rPr lang="ur-PK" sz="2200" dirty="0" smtClean="0">
                <a:latin typeface="Jameel Noori Nastaleeq" pitchFamily="2" charset="-78"/>
                <a:cs typeface="Jameel Noori Nastaleeq" pitchFamily="2" charset="-78"/>
              </a:rPr>
              <a:t>علامہ </a:t>
            </a:r>
            <a:r>
              <a:rPr lang="ur-PK" sz="2200" dirty="0">
                <a:latin typeface="Jameel Noori Nastaleeq" pitchFamily="2" charset="-78"/>
                <a:cs typeface="Jameel Noori Nastaleeq" pitchFamily="2" charset="-78"/>
              </a:rPr>
              <a:t>اسدؒ اور مو لا نا مودودیؒ دو نوں مفکرین کو عا لم اسلام میں یہ اعزاز و مقام حاصل ہے کہ انھوں نے اسلامی تہذیب و معاشرت کے احیاء اور بقا کے لیے گراں قدر آراء و تجاویز پیش کی ہیں ۔ اور امت مسلمہ کی نئی نسل کو اخلاقی و نظریاتی بے راہ روی سے بچا نے کے لیے مغربی تہذیب کی لغویت اور انسانی معاشرے کے لیے فاسد و مہلک ہو نے کو بڑے مؤثر انداز میں بیان کیا ہے۔ دو نوں مفکرین کے افکار و نظریات سے اخذ ہوتا ہے کہ وہ عا لم انسانی بالخصوص امت مسلمہ کی بقا کے لیے عہد حاضر میں اسلا می تہذیب و تمدن کی تشکیل جدید کے خواہاں ہیں  اور اہل اسلام کو موجودہ ذلت و مسکنت سے نکا لنے کے لیے اسے لازمی قرار دیتے ہیں ۔مو لا نا مودودیؒ اور علا مہ اسد ؒ کی مذکورہ انقلا بی فکر عہد حاضر میں امت مسلمہ کے لیے اسلامی تہذیب وتمدن کے احیا ءاور بقا کے لیے ترقی کی کئی را ہیں کھول سکتا ہے ۔دو نوں مفکرین کے مطا بق عہد حاضر میں  اسلامی تہذیب وتمدن کے میدان میں ایک نشاۃ جدید کی اشد ضرورت ہے اور اب اسلام کو دو بارہ دنیا کا امام ورہنما بنا نے کے لیے امت مسلمہ میں ایسے مفکر اور اہل نظرپیدا ہونے چا ہیئں جو فکر ونظر اور تحقیق واستدلال کی زبردست قوت سے ان بنیادوں کو زمین بوس کردیں جن پر غیر انسانی وغیر فطری مغربی تہذیب کی عمارت قا ئم ہے ۔</a:t>
            </a:r>
            <a:endParaRPr lang="en-US" sz="2200"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358279111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5029200"/>
          </a:xfrm>
        </p:spPr>
        <p:txBody>
          <a:bodyPr>
            <a:normAutofit/>
          </a:bodyPr>
          <a:lstStyle/>
          <a:p>
            <a:pPr marL="0" indent="0" algn="just" rtl="1">
              <a:buNone/>
            </a:pPr>
            <a:r>
              <a:rPr lang="ur-PK" sz="2200" dirty="0" smtClean="0">
                <a:latin typeface="Jameel Noori Nastaleeq" pitchFamily="2" charset="-78"/>
                <a:cs typeface="Jameel Noori Nastaleeq" pitchFamily="2" charset="-78"/>
              </a:rPr>
              <a:t> </a:t>
            </a:r>
            <a:r>
              <a:rPr lang="ur-PK" sz="2200" dirty="0">
                <a:latin typeface="Jameel Noori Nastaleeq" pitchFamily="2" charset="-78"/>
                <a:cs typeface="Jameel Noori Nastaleeq" pitchFamily="2" charset="-78"/>
              </a:rPr>
              <a:t>مقالہ ھٰذا میں تحقیق سے جو نتائج مرتب ہوئے ہیں وہ درج ذیل ہیں </a:t>
            </a:r>
            <a:r>
              <a:rPr lang="en-US" sz="2200" dirty="0">
                <a:latin typeface="Jameel Noori Nastaleeq" pitchFamily="2" charset="-78"/>
                <a:cs typeface="Jameel Noori Nastaleeq" pitchFamily="2" charset="-78"/>
              </a:rPr>
              <a:t>:</a:t>
            </a:r>
          </a:p>
          <a:p>
            <a:pPr lvl="0" algn="just" rtl="1"/>
            <a:r>
              <a:rPr lang="ur-PK" sz="2200" dirty="0">
                <a:latin typeface="Jameel Noori Nastaleeq" pitchFamily="2" charset="-78"/>
                <a:cs typeface="Jameel Noori Nastaleeq" pitchFamily="2" charset="-78"/>
              </a:rPr>
              <a:t>لغت میں تہذیب کے معنی "شائستگی خوش اخلاقی اور کردار کی درستگی" کے ہیں جبکہ تہذیب اصطلاحی طور پر "معاشرے کے طرز زندگی اور طرز فکر و احساس" کو کہتے ہیں‌‌‌‎‎‏‏۔</a:t>
            </a:r>
            <a:endParaRPr lang="en-US" sz="2200" dirty="0">
              <a:latin typeface="Jameel Noori Nastaleeq" pitchFamily="2" charset="-78"/>
              <a:cs typeface="Jameel Noori Nastaleeq" pitchFamily="2" charset="-78"/>
            </a:endParaRPr>
          </a:p>
          <a:p>
            <a:pPr lvl="0" algn="just" rtl="1"/>
            <a:r>
              <a:rPr lang="ur-PK" sz="2200" dirty="0">
                <a:latin typeface="Jameel Noori Nastaleeq" pitchFamily="2" charset="-78"/>
                <a:cs typeface="Jameel Noori Nastaleeq" pitchFamily="2" charset="-78"/>
              </a:rPr>
              <a:t>تہذیب اور ثقافت کے مفہوم میں واضح فرق ہے کہ ثقافت ایک داخلی کیفیت کا نام ہے اس لیے اس کا تعلق انسان کے فکری عمل سے ہے جبکہ تہذیب ایک خارجی کیفیت کا نام ہے اسی لیے اس کا تعلق مادی اکتسابات اور خارجی دنیا کے مظاہر سے </a:t>
            </a:r>
            <a:r>
              <a:rPr lang="ur-PK" sz="2200" dirty="0" smtClean="0">
                <a:latin typeface="Jameel Noori Nastaleeq" pitchFamily="2" charset="-78"/>
                <a:cs typeface="Jameel Noori Nastaleeq" pitchFamily="2" charset="-78"/>
              </a:rPr>
              <a:t>ہوتاہے </a:t>
            </a:r>
            <a:r>
              <a:rPr lang="ur-PK" sz="2200" dirty="0">
                <a:latin typeface="Jameel Noori Nastaleeq" pitchFamily="2" charset="-78"/>
                <a:cs typeface="Jameel Noori Nastaleeq" pitchFamily="2" charset="-78"/>
              </a:rPr>
              <a:t>۔</a:t>
            </a:r>
            <a:endParaRPr lang="en-US" sz="2200" dirty="0">
              <a:latin typeface="Jameel Noori Nastaleeq" pitchFamily="2" charset="-78"/>
              <a:cs typeface="Jameel Noori Nastaleeq" pitchFamily="2" charset="-78"/>
            </a:endParaRPr>
          </a:p>
          <a:p>
            <a:pPr lvl="0" algn="just" rtl="1"/>
            <a:r>
              <a:rPr lang="ur-PK" sz="2200" dirty="0">
                <a:latin typeface="Jameel Noori Nastaleeq" pitchFamily="2" charset="-78"/>
                <a:cs typeface="Jameel Noori Nastaleeq" pitchFamily="2" charset="-78"/>
              </a:rPr>
              <a:t>ہر تہذیب کے ساتھ ایک مخصوص نظام معاشرت وابستہ ہوتا ہے جسے تمدن کہا جاتا ہے اور تمدن کے مظاہر خارجی دنیا میں موجود ہوتے ہیں۔ </a:t>
            </a:r>
            <a:endParaRPr lang="en-US" sz="2200" dirty="0">
              <a:latin typeface="Jameel Noori Nastaleeq" pitchFamily="2" charset="-78"/>
              <a:cs typeface="Jameel Noori Nastaleeq" pitchFamily="2" charset="-78"/>
            </a:endParaRPr>
          </a:p>
          <a:p>
            <a:pPr lvl="0" algn="just" rtl="1"/>
            <a:r>
              <a:rPr lang="ur-PK" sz="2200" dirty="0">
                <a:latin typeface="Jameel Noori Nastaleeq" pitchFamily="2" charset="-78"/>
                <a:cs typeface="Jameel Noori Nastaleeq" pitchFamily="2" charset="-78"/>
              </a:rPr>
              <a:t>اسلامی تہذیب کی بنیاد محض ظن و تخمین پر نہیں ہے بلکہ خالص علم و یقین پر ہے ۔</a:t>
            </a:r>
            <a:endParaRPr lang="en-US" sz="2200" dirty="0">
              <a:latin typeface="Jameel Noori Nastaleeq" pitchFamily="2" charset="-78"/>
              <a:cs typeface="Jameel Noori Nastaleeq" pitchFamily="2" charset="-78"/>
            </a:endParaRPr>
          </a:p>
          <a:p>
            <a:pPr lvl="0" algn="r" rtl="1"/>
            <a:r>
              <a:rPr lang="ur-PK" sz="2200" dirty="0">
                <a:latin typeface="Jameel Noori Nastaleeq" pitchFamily="2" charset="-78"/>
                <a:cs typeface="Jameel Noori Nastaleeq" pitchFamily="2" charset="-78"/>
              </a:rPr>
              <a:t>تہذیب پانچ عناصر ترکیبی پر مشتمل ہے:</a:t>
            </a:r>
            <a:endParaRPr lang="en-US" sz="2200" dirty="0">
              <a:latin typeface="Jameel Noori Nastaleeq" pitchFamily="2" charset="-78"/>
              <a:cs typeface="Jameel Noori Nastaleeq" pitchFamily="2" charset="-78"/>
            </a:endParaRPr>
          </a:p>
          <a:p>
            <a:pPr marL="0" indent="0" algn="r" rtl="1">
              <a:buNone/>
            </a:pPr>
            <a:r>
              <a:rPr lang="ur-PK" sz="2200" dirty="0">
                <a:latin typeface="Jameel Noori Nastaleeq" pitchFamily="2" charset="-78"/>
                <a:cs typeface="Jameel Noori Nastaleeq" pitchFamily="2" charset="-78"/>
              </a:rPr>
              <a:t>	1- دنیاوی زندگی کا تصور             </a:t>
            </a:r>
            <a:r>
              <a:rPr lang="en-US" sz="2200" dirty="0" smtClean="0">
                <a:latin typeface="Jameel Noori Nastaleeq" pitchFamily="2" charset="-78"/>
                <a:cs typeface="Jameel Noori Nastaleeq" pitchFamily="2" charset="-78"/>
              </a:rPr>
              <a:t>	</a:t>
            </a:r>
            <a:r>
              <a:rPr lang="en-US" sz="2200" dirty="0">
                <a:latin typeface="Jameel Noori Nastaleeq" pitchFamily="2" charset="-78"/>
                <a:cs typeface="Jameel Noori Nastaleeq" pitchFamily="2" charset="-78"/>
              </a:rPr>
              <a:t>	</a:t>
            </a:r>
            <a:r>
              <a:rPr lang="ur-PK" sz="2200" dirty="0">
                <a:latin typeface="Jameel Noori Nastaleeq" pitchFamily="2" charset="-78"/>
                <a:cs typeface="Jameel Noori Nastaleeq" pitchFamily="2" charset="-78"/>
              </a:rPr>
              <a:t>2- زندگی کا نصب العین          </a:t>
            </a:r>
            <a:endParaRPr lang="en-US" sz="2200" dirty="0">
              <a:latin typeface="Jameel Noori Nastaleeq" pitchFamily="2" charset="-78"/>
              <a:cs typeface="Jameel Noori Nastaleeq" pitchFamily="2" charset="-78"/>
            </a:endParaRPr>
          </a:p>
          <a:p>
            <a:pPr marL="0" indent="0" algn="r" rtl="1">
              <a:buNone/>
            </a:pPr>
            <a:r>
              <a:rPr lang="ur-PK" sz="2200" dirty="0">
                <a:latin typeface="Jameel Noori Nastaleeq" pitchFamily="2" charset="-78"/>
                <a:cs typeface="Jameel Noori Nastaleeq" pitchFamily="2" charset="-78"/>
              </a:rPr>
              <a:t>	3- عقائد و افکار                                  </a:t>
            </a:r>
            <a:r>
              <a:rPr lang="en-US" sz="2200" dirty="0">
                <a:latin typeface="Jameel Noori Nastaleeq" pitchFamily="2" charset="-78"/>
                <a:cs typeface="Jameel Noori Nastaleeq" pitchFamily="2" charset="-78"/>
              </a:rPr>
              <a:t>	</a:t>
            </a:r>
            <a:r>
              <a:rPr lang="en-US" sz="2200" dirty="0" smtClean="0">
                <a:latin typeface="Jameel Noori Nastaleeq" pitchFamily="2" charset="-78"/>
                <a:cs typeface="Jameel Noori Nastaleeq" pitchFamily="2" charset="-78"/>
              </a:rPr>
              <a:t>	</a:t>
            </a:r>
            <a:r>
              <a:rPr lang="ur-PK" sz="2200" dirty="0" smtClean="0">
                <a:latin typeface="Jameel Noori Nastaleeq" pitchFamily="2" charset="-78"/>
                <a:cs typeface="Jameel Noori Nastaleeq" pitchFamily="2" charset="-78"/>
              </a:rPr>
              <a:t>4- </a:t>
            </a:r>
            <a:r>
              <a:rPr lang="ur-PK" sz="2200" dirty="0">
                <a:latin typeface="Jameel Noori Nastaleeq" pitchFamily="2" charset="-78"/>
                <a:cs typeface="Jameel Noori Nastaleeq" pitchFamily="2" charset="-78"/>
              </a:rPr>
              <a:t>تربیت افراد کے اصول       </a:t>
            </a:r>
            <a:endParaRPr lang="en-US" sz="2200" dirty="0">
              <a:latin typeface="Jameel Noori Nastaleeq" pitchFamily="2" charset="-78"/>
              <a:cs typeface="Jameel Noori Nastaleeq" pitchFamily="2" charset="-78"/>
            </a:endParaRPr>
          </a:p>
          <a:p>
            <a:pPr marL="0" indent="0" algn="r" rtl="1">
              <a:buNone/>
            </a:pPr>
            <a:r>
              <a:rPr lang="en-US" sz="2200" dirty="0">
                <a:latin typeface="Jameel Noori Nastaleeq" pitchFamily="2" charset="-78"/>
                <a:cs typeface="Jameel Noori Nastaleeq" pitchFamily="2" charset="-78"/>
              </a:rPr>
              <a:t>	</a:t>
            </a:r>
            <a:r>
              <a:rPr lang="ur-PK" sz="2200" dirty="0">
                <a:latin typeface="Jameel Noori Nastaleeq" pitchFamily="2" charset="-78"/>
                <a:cs typeface="Jameel Noori Nastaleeq" pitchFamily="2" charset="-78"/>
              </a:rPr>
              <a:t>5- نظام اجتماعی کے </a:t>
            </a:r>
            <a:r>
              <a:rPr lang="ur-PK" sz="2200" dirty="0" smtClean="0">
                <a:latin typeface="Jameel Noori Nastaleeq" pitchFamily="2" charset="-78"/>
                <a:cs typeface="Jameel Noori Nastaleeq" pitchFamily="2" charset="-78"/>
              </a:rPr>
              <a:t>اصول</a:t>
            </a:r>
            <a:endParaRPr lang="en-US" sz="2200" dirty="0">
              <a:latin typeface="Jameel Noori Nastaleeq" pitchFamily="2" charset="-78"/>
              <a:cs typeface="Jameel Noori Nastaleeq" pitchFamily="2" charset="-78"/>
            </a:endParaRPr>
          </a:p>
        </p:txBody>
      </p:sp>
      <p:sp>
        <p:nvSpPr>
          <p:cNvPr id="2" name="Rectangle 1"/>
          <p:cNvSpPr/>
          <p:nvPr/>
        </p:nvSpPr>
        <p:spPr>
          <a:xfrm>
            <a:off x="3565370" y="762000"/>
            <a:ext cx="1550425" cy="707886"/>
          </a:xfrm>
          <a:prstGeom prst="rect">
            <a:avLst/>
          </a:prstGeom>
        </p:spPr>
        <p:txBody>
          <a:bodyPr wrap="none">
            <a:spAutoFit/>
          </a:bodyPr>
          <a:lstStyle/>
          <a:p>
            <a:pPr algn="ctr" rtl="1"/>
            <a:r>
              <a:rPr lang="ar-SA" sz="4000" b="1" spc="50" dirty="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rPr>
              <a:t>نتائج تحقیق </a:t>
            </a:r>
            <a:endParaRPr lang="en-US" sz="4000" b="1" spc="50" dirty="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p:txBody>
      </p:sp>
    </p:spTree>
    <p:extLst>
      <p:ext uri="{BB962C8B-B14F-4D97-AF65-F5344CB8AC3E}">
        <p14:creationId xmlns:p14="http://schemas.microsoft.com/office/powerpoint/2010/main" val="358279111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638800"/>
          </a:xfrm>
        </p:spPr>
        <p:txBody>
          <a:bodyPr>
            <a:normAutofit/>
          </a:bodyPr>
          <a:lstStyle/>
          <a:p>
            <a:pPr lvl="0" algn="just" rtl="1"/>
            <a:r>
              <a:rPr lang="ur-PK" sz="2200" dirty="0">
                <a:latin typeface="Jameel Noori Nastaleeq" pitchFamily="2" charset="-78"/>
                <a:cs typeface="Jameel Noori Nastaleeq" pitchFamily="2" charset="-78"/>
              </a:rPr>
              <a:t>کائنات پر تفکر و تدبر اسلامی تہذیب و تمدن کا خاصہ اور جزو لا ینفک ہے جس پر متعدد آیات قرآنی شاہد ہیں۔</a:t>
            </a:r>
            <a:endParaRPr lang="en-US" sz="2200" dirty="0">
              <a:latin typeface="Jameel Noori Nastaleeq" pitchFamily="2" charset="-78"/>
              <a:cs typeface="Jameel Noori Nastaleeq" pitchFamily="2" charset="-78"/>
            </a:endParaRPr>
          </a:p>
          <a:p>
            <a:pPr lvl="0" algn="just" rtl="1"/>
            <a:r>
              <a:rPr lang="ur-PK" sz="2200" dirty="0">
                <a:latin typeface="Jameel Noori Nastaleeq" pitchFamily="2" charset="-78"/>
                <a:cs typeface="Jameel Noori Nastaleeq" pitchFamily="2" charset="-78"/>
              </a:rPr>
              <a:t>اسلامی تہذیب و تمدن کا نظام ایک انقلاب کا نام ہے جو معاشرے میں امن و سکون کا ضامن ہے۔</a:t>
            </a:r>
            <a:endParaRPr lang="en-US" sz="2200" dirty="0">
              <a:latin typeface="Jameel Noori Nastaleeq" pitchFamily="2" charset="-78"/>
              <a:cs typeface="Jameel Noori Nastaleeq" pitchFamily="2" charset="-78"/>
            </a:endParaRPr>
          </a:p>
          <a:p>
            <a:pPr lvl="0" algn="just" rtl="1"/>
            <a:r>
              <a:rPr lang="ur-PK" sz="2200" dirty="0">
                <a:latin typeface="Jameel Noori Nastaleeq" pitchFamily="2" charset="-78"/>
                <a:cs typeface="Jameel Noori Nastaleeq" pitchFamily="2" charset="-78"/>
              </a:rPr>
              <a:t>کسی بھی تہذیب کے قیام و بقاء کے لیے نظریہ روح کی سی اہمیت رکھتا ہے جس کے ہونے سے زندگی کی بقا ہے یعنی کہ کسی بھی انسانی معاشرہ کا وجود نظریہ کے بغیر ناممکن ہے۔</a:t>
            </a:r>
            <a:endParaRPr lang="en-US" sz="2200" dirty="0">
              <a:latin typeface="Jameel Noori Nastaleeq" pitchFamily="2" charset="-78"/>
              <a:cs typeface="Jameel Noori Nastaleeq" pitchFamily="2" charset="-78"/>
            </a:endParaRPr>
          </a:p>
          <a:p>
            <a:pPr lvl="0" algn="just" rtl="1"/>
            <a:r>
              <a:rPr lang="ur-PK" sz="2200" dirty="0">
                <a:latin typeface="Jameel Noori Nastaleeq" pitchFamily="2" charset="-78"/>
                <a:cs typeface="Jameel Noori Nastaleeq" pitchFamily="2" charset="-78"/>
              </a:rPr>
              <a:t>تہذیب اور تعلیم کا آپس میں گہرا ربط و تعلق ہے اور درحقیقت تعلیم ہی ہے جو کسی مکمل تہذیبی نظام کو دوسری نسلوں تک منتقل کرنے کا انتظام کرتی ہے۔</a:t>
            </a:r>
            <a:endParaRPr lang="en-US" sz="2200" dirty="0">
              <a:latin typeface="Jameel Noori Nastaleeq" pitchFamily="2" charset="-78"/>
              <a:cs typeface="Jameel Noori Nastaleeq" pitchFamily="2" charset="-78"/>
            </a:endParaRPr>
          </a:p>
          <a:p>
            <a:pPr lvl="0" algn="just" rtl="1"/>
            <a:r>
              <a:rPr lang="ur-PK" sz="2200" dirty="0">
                <a:latin typeface="Jameel Noori Nastaleeq" pitchFamily="2" charset="-78"/>
                <a:cs typeface="Jameel Noori Nastaleeq" pitchFamily="2" charset="-78"/>
              </a:rPr>
              <a:t>غزوات نبوی صلی اللہ علیہ وسلم کا بنیادی مقصد انسانی جانوں اور انسانی مفادات کا تحفظ تھا یہ اسلامی تہذیب کی ایسی منفرد خصوصیت ہے جو اسے دیگر دنیاوی تہذیبوں سے ممتاز کرتی ہے۔</a:t>
            </a:r>
            <a:endParaRPr lang="en-US" sz="2200" dirty="0">
              <a:latin typeface="Jameel Noori Nastaleeq" pitchFamily="2" charset="-78"/>
              <a:cs typeface="Jameel Noori Nastaleeq" pitchFamily="2" charset="-78"/>
            </a:endParaRPr>
          </a:p>
          <a:p>
            <a:pPr lvl="0" algn="just" rtl="1"/>
            <a:r>
              <a:rPr lang="ur-PK" sz="2200" dirty="0">
                <a:latin typeface="Jameel Noori Nastaleeq" pitchFamily="2" charset="-78"/>
                <a:cs typeface="Jameel Noori Nastaleeq" pitchFamily="2" charset="-78"/>
              </a:rPr>
              <a:t>دور حاضر میں مولانا مودودیؒ وہ اسلامی مفکر ہیں جنہوں نے تہذیب و تمدن کے میدان میں قابل ذکر خدمات انجام دی ہیں مولانا ایک لحاظ سے پہلے مفکر اسلام ہیں جنہوں نے اسلامی تہذیب و معاشرت کو انتہائی منظم انداز میں پیش کرتے ہوئے اسلامی معاشرے کے اہم خدوخال اور اس کے قابل عمل نقشے کو امت مسلمہ کے سامنے رکھا اور دلائل کے ساتھ وہ تمام شکوک و شبہات مٹا دیے جو طبقہ جدید کے اذہان میں اسلامی نظام تہذیب و تمدن کے متعلق موجود تھے۔</a:t>
            </a:r>
            <a:endParaRPr lang="en-US" sz="2200" dirty="0">
              <a:latin typeface="Jameel Noori Nastaleeq" pitchFamily="2" charset="-78"/>
              <a:cs typeface="Jameel Noori Nastaleeq" pitchFamily="2" charset="-78"/>
            </a:endParaRPr>
          </a:p>
          <a:p>
            <a:pPr algn="just" rtl="1"/>
            <a:r>
              <a:rPr lang="ur-PK" sz="2200" dirty="0">
                <a:latin typeface="Jameel Noori Nastaleeq" pitchFamily="2" charset="-78"/>
                <a:cs typeface="Jameel Noori Nastaleeq" pitchFamily="2" charset="-78"/>
              </a:rPr>
              <a:t>علامہ محمد اسدؒکے دینی تفکر کی تشکیل میں امام ابن حزم ظاہری، امام ابن تیمیہ، مفتی محمد عبدہ اور اپنے ہم عصر مفکرین میں علامہ محمد اقبال کے افکار و خیالات کار فرما نظر آتے ہیں۔</a:t>
            </a:r>
            <a:endParaRPr lang="en-US" sz="2200"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216186813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638800"/>
          </a:xfrm>
        </p:spPr>
        <p:txBody>
          <a:bodyPr>
            <a:normAutofit fontScale="85000" lnSpcReduction="10000"/>
          </a:bodyPr>
          <a:lstStyle/>
          <a:p>
            <a:pPr lvl="0" algn="just" rtl="1"/>
            <a:r>
              <a:rPr lang="ur-PK" dirty="0">
                <a:latin typeface="Jameel Noori Nastaleeq" pitchFamily="2" charset="-78"/>
                <a:cs typeface="Jameel Noori Nastaleeq" pitchFamily="2" charset="-78"/>
              </a:rPr>
              <a:t>علامہ محمد اسدؒنے اپنی گراں قدر تصانیف میں اسلامی تہذیب کے احیاء کی تدابیر کو اپنی فکر کا موضوع بناتے ہوئے مغربی تہذیب و تمدن کے مفاسد اور تباہ کاریوں کو موثر انداز میں آشکار کیا اور دنیائے انسانیت کو لاحق عوارض کے لیے اسلامی تہذیب و تمدن کو ایک مؤثر تریاق کے طور پر پیش کیا ہے۔</a:t>
            </a:r>
            <a:endParaRPr lang="en-US" dirty="0">
              <a:latin typeface="Jameel Noori Nastaleeq" pitchFamily="2" charset="-78"/>
              <a:cs typeface="Jameel Noori Nastaleeq" pitchFamily="2" charset="-78"/>
            </a:endParaRPr>
          </a:p>
          <a:p>
            <a:pPr lvl="0" algn="just" rtl="1"/>
            <a:r>
              <a:rPr lang="ur-PK" dirty="0">
                <a:latin typeface="Jameel Noori Nastaleeq" pitchFamily="2" charset="-78"/>
                <a:cs typeface="Jameel Noori Nastaleeq" pitchFamily="2" charset="-78"/>
              </a:rPr>
              <a:t>مولانا مودودیؒ اور علامہ اسدؒدونوں مفکرین نے اپنی تحریروں میں مغربی قومیت کے تصور کی مدلل اور موثر طریقے سے تردید کی ہے ان کے نزدیک اسلام کے نظریہ قومیت کے حوالے سے مسلمان کوئی نسلی یا لسانی قوم نہیں ہیں بلکہ خالص ایک نظریاتی ملت ہیں جس کی بنیاد محض نظریہ اسلام ہے۔</a:t>
            </a:r>
            <a:endParaRPr lang="en-US" dirty="0">
              <a:latin typeface="Jameel Noori Nastaleeq" pitchFamily="2" charset="-78"/>
              <a:cs typeface="Jameel Noori Nastaleeq" pitchFamily="2" charset="-78"/>
            </a:endParaRPr>
          </a:p>
          <a:p>
            <a:pPr lvl="0" algn="just" rtl="1"/>
            <a:r>
              <a:rPr lang="ur-PK" dirty="0">
                <a:latin typeface="Jameel Noori Nastaleeq" pitchFamily="2" charset="-78"/>
                <a:cs typeface="Jameel Noori Nastaleeq" pitchFamily="2" charset="-78"/>
              </a:rPr>
              <a:t>مولانا مودودیؒ کے مطابق فقہ اسلامی درحقیقت شریعت اسلامی  (قرآن و سنت) کی تفہیم و  تصریح ہے اس لیے فقہ شریعت سے ہٹ کر کوئی چیز نہیں بلکہ اس کا لازمی حصہ ہے جبکہ محمد اسدؒکے نزدیک صرف قرآن و سنت ہی اصل شریعت اور اسلام کے دائمی و ابدی قانون ہیں اور فقہ (انسانی اجتہادات) شریعت کا جز نہیں ہیں اس لیے زمانے کے تقاضوں کا لحاظ کرتے ہوئے یہ قابل ترمیم ہوتے ہیں اس طرح علامہ اسدؒصریح طور پر شریعت اور فقہ میں امتیاز کرتے ہیں۔</a:t>
            </a:r>
            <a:endParaRPr lang="en-US" dirty="0">
              <a:latin typeface="Jameel Noori Nastaleeq" pitchFamily="2" charset="-78"/>
              <a:cs typeface="Jameel Noori Nastaleeq" pitchFamily="2" charset="-78"/>
            </a:endParaRPr>
          </a:p>
          <a:p>
            <a:pPr lvl="0" algn="just" rtl="1"/>
            <a:r>
              <a:rPr lang="ur-PK" dirty="0">
                <a:latin typeface="Jameel Noori Nastaleeq" pitchFamily="2" charset="-78"/>
                <a:cs typeface="Jameel Noori Nastaleeq" pitchFamily="2" charset="-78"/>
              </a:rPr>
              <a:t>علامہ اسدؒعہد حاضر میں اجتہاد کی ضرورت اور دائرہ کار کے ضمن میں ایک منفرد رائے رکھتے ہیں ان کی رائے میں قدیم فقہی سرمایہ عصر جدید کے تقاضوں سے ہم آہنگ نہیں ہے کیونکہ عہد جدید میں ایسے بے شمار معاشی و معاشرتی مسائل پیش آئے ہیں جن کا حل فقہ قدیم میں نہیں ملتا اس لیے عہد حاضر میں فقہ کی تدوین جدید وقت کی اہم ترین ضرورت ہے۔</a:t>
            </a:r>
            <a:endParaRPr lang="en-US" dirty="0">
              <a:latin typeface="Jameel Noori Nastaleeq" pitchFamily="2" charset="-78"/>
              <a:cs typeface="Jameel Noori Nastaleeq" pitchFamily="2" charset="-78"/>
            </a:endParaRPr>
          </a:p>
          <a:p>
            <a:pPr algn="just" rtl="1"/>
            <a:r>
              <a:rPr lang="ur-PK" dirty="0">
                <a:latin typeface="Jameel Noori Nastaleeq" pitchFamily="2" charset="-78"/>
                <a:cs typeface="Jameel Noori Nastaleeq" pitchFamily="2" charset="-78"/>
              </a:rPr>
              <a:t>علامہ اسدؒمغربی تہذیب و تمدن پر کڑی تنقید کرنے کے باوجود اس کے بعض مثبت پہلو مثلا مختلف سائنسی علوم و فنون میں مغرب کے اجتہادات و تجربات سے استفادہ کے قائل ہیں گویا علامہ اسدؒمغربی تہذیب کے فاسد اجزاء کو اسلامی تہذیب سے خارج کرتے ہوئے "خذماصفاودع ماکدر"  کے اصول کی روشنی میں اس سے اخذ و اکتساب کے حق میں ہے۔ </a:t>
            </a:r>
            <a:endParaRPr lang="en-US"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216186813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638800"/>
          </a:xfrm>
        </p:spPr>
        <p:txBody>
          <a:bodyPr>
            <a:normAutofit/>
          </a:bodyPr>
          <a:lstStyle/>
          <a:p>
            <a:pPr lvl="0" algn="just" rtl="1"/>
            <a:r>
              <a:rPr lang="ur-PK" sz="2300" dirty="0">
                <a:latin typeface="Jameel Noori Nastaleeq" pitchFamily="2" charset="-78"/>
                <a:cs typeface="Jameel Noori Nastaleeq" pitchFamily="2" charset="-78"/>
              </a:rPr>
              <a:t>مولانا مودودیؒ اور علامہ اسدؒدونوں مفکرین کے نزدیک اسلامی تہذیب و معاشرت میں دین و دنیا کی تفریق کا کوئی تصور نہیں ہے دونوں مصلحین کے مطابق وہ معاشرت لعنت ہے جو مذہب سے آزاد ہو اور وہ مذہب غیر مطلوب ہے جو انسانی تہذیب و معاشرت کی اصلاح نہیں کرتا۔</a:t>
            </a:r>
            <a:endParaRPr lang="en-US" sz="2300" dirty="0">
              <a:latin typeface="Jameel Noori Nastaleeq" pitchFamily="2" charset="-78"/>
              <a:cs typeface="Jameel Noori Nastaleeq" pitchFamily="2" charset="-78"/>
            </a:endParaRPr>
          </a:p>
          <a:p>
            <a:pPr lvl="0" algn="just" rtl="1"/>
            <a:r>
              <a:rPr lang="ur-PK" sz="2300" dirty="0">
                <a:latin typeface="Jameel Noori Nastaleeq" pitchFamily="2" charset="-78"/>
                <a:cs typeface="Jameel Noori Nastaleeq" pitchFamily="2" charset="-78"/>
              </a:rPr>
              <a:t>مولانا مودودیؒ اور علامہ اسدؒدونوں مفکرین نے اسلامی تہذیب و معاشرت کے احیاء کے لیے بیش قیمت تجاویز پیش کی ہیں دونوں مفکرین امت مسلمہ کی بقا کے لیے عہد حاضر میں اسلامی تہذیب و تمدن کی تشکیل جدید کے خواہاں ہیں اور امت مسلمہ کو موجودہ ذلت و مسکنت سے نکالنے کے لیے اسے لازمی قرار دیتے ہیں مولانا مودودیؒ اور علامہ اسدؒکی اسلامی تہذیب و تمدن کی تشکیل جدید کے حوالے سے انقلابی فکر عہد حاضر میں اسلامی تہذیب و تمدن کے احیاء کی کے لیے ترقی کی کئی راہیں کھول سکتا ہے لیکن اس کے لیے امت مسلمہ میں ایسے مفکر پیدا ہونے چاہیےجو فکر و نظر اور تحقیق و استدلال کی زبردست قوت سے مالامال ہوں ۔</a:t>
            </a:r>
            <a:endParaRPr lang="en-US" sz="2300" dirty="0">
              <a:latin typeface="Jameel Noori Nastaleeq" pitchFamily="2" charset="-78"/>
              <a:cs typeface="Jameel Noori Nastaleeq" pitchFamily="2" charset="-78"/>
            </a:endParaRPr>
          </a:p>
          <a:p>
            <a:pPr lvl="0" algn="just" rtl="1"/>
            <a:r>
              <a:rPr lang="ur-PK" sz="2300" dirty="0">
                <a:latin typeface="Jameel Noori Nastaleeq" pitchFamily="2" charset="-78"/>
                <a:cs typeface="Jameel Noori Nastaleeq" pitchFamily="2" charset="-78"/>
              </a:rPr>
              <a:t>مولانا مودودیؒ کا تہذیبی ویژن علامہ اسدؒکے تہذیبی ویژن سے زیادہ سخت ہے کہ مودودیؒ معاشرے میں شریعت کو سختی سے نافذ کرنے کی حمایت کرتے ہیں اس کے برعکس علامہ اسدؒاسلام کے ایک لچکدار اور جدید تمدن کو نافذ کرنے کے لیے ایک ترقی پسند اسلامی تہذیب کی حمایت کرتے ہیں۔</a:t>
            </a:r>
            <a:endParaRPr lang="en-US" sz="2300" dirty="0">
              <a:latin typeface="Jameel Noori Nastaleeq" pitchFamily="2" charset="-78"/>
              <a:cs typeface="Jameel Noori Nastaleeq" pitchFamily="2" charset="-78"/>
            </a:endParaRPr>
          </a:p>
          <a:p>
            <a:pPr algn="just" rtl="1"/>
            <a:r>
              <a:rPr lang="ur-PK" sz="2300" dirty="0">
                <a:latin typeface="Jameel Noori Nastaleeq" pitchFamily="2" charset="-78"/>
                <a:cs typeface="Jameel Noori Nastaleeq" pitchFamily="2" charset="-78"/>
              </a:rPr>
              <a:t>مولانا مودودیؒ اور علامہ اسدؒدونوں کا تہذیبی فکر امت مسلمہ کے تشخص کو عصری تقاضوں سے مربوط و ہم آہنگ کر سکتا ہے تاہم علامہ اسدؒکے تہذیبی افکار مولانا مودودیؒ کے تہذیبی ویژن سے نسبتا متاثر نظر آتے ہیں۔</a:t>
            </a:r>
            <a:endParaRPr lang="en-US" sz="2300" dirty="0">
              <a:latin typeface="Jameel Noori Nastaleeq" pitchFamily="2" charset="-78"/>
              <a:cs typeface="Jameel Noori Nastaleeq" pitchFamily="2" charset="-78"/>
            </a:endParaRPr>
          </a:p>
        </p:txBody>
      </p:sp>
    </p:spTree>
    <p:extLst>
      <p:ext uri="{BB962C8B-B14F-4D97-AF65-F5344CB8AC3E}">
        <p14:creationId xmlns:p14="http://schemas.microsoft.com/office/powerpoint/2010/main" val="216186813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229600" cy="5181600"/>
          </a:xfrm>
        </p:spPr>
        <p:txBody>
          <a:bodyPr>
            <a:normAutofit lnSpcReduction="10000"/>
          </a:bodyPr>
          <a:lstStyle/>
          <a:p>
            <a:pPr lvl="0" algn="just" rtl="1">
              <a:lnSpc>
                <a:spcPct val="125000"/>
              </a:lnSpc>
            </a:pPr>
            <a:r>
              <a:rPr lang="ur-PK" sz="2400" dirty="0">
                <a:latin typeface="Jameel Noori Nastaleeq" pitchFamily="2" charset="-78"/>
                <a:cs typeface="Jameel Noori Nastaleeq" pitchFamily="2" charset="-78"/>
              </a:rPr>
              <a:t>مولانا مودودیؒ اور علامہ اسدؒ جو اپنے دور کے معروف مفکر و مصلح تھے، جہاں ان   کی سماجی اور معاشرتی نظریات پر کام کیا گیا ہے وہاں پر ان کے معاشی ، سیاسی اور اخلاقی نظریات پر بھی کام کیا جائے۔ </a:t>
            </a:r>
            <a:endParaRPr lang="en-US" sz="2400" dirty="0">
              <a:latin typeface="Jameel Noori Nastaleeq" pitchFamily="2" charset="-78"/>
              <a:cs typeface="Jameel Noori Nastaleeq" pitchFamily="2" charset="-78"/>
            </a:endParaRPr>
          </a:p>
          <a:p>
            <a:pPr lvl="0" algn="just" rtl="1">
              <a:lnSpc>
                <a:spcPct val="125000"/>
              </a:lnSpc>
            </a:pPr>
            <a:r>
              <a:rPr lang="ur-PK" sz="2400" dirty="0">
                <a:latin typeface="Jameel Noori Nastaleeq" pitchFamily="2" charset="-78"/>
                <a:cs typeface="Jameel Noori Nastaleeq" pitchFamily="2" charset="-78"/>
              </a:rPr>
              <a:t>مختلف موضوعات پر مذکورہ دونوں مفکرین کے کام کا جو لٹریچر موجود ہے ان کی از سر نو دورِ جدید کے مطابق تشریحات کی جائیں۔</a:t>
            </a:r>
            <a:endParaRPr lang="en-US" sz="2400" dirty="0">
              <a:latin typeface="Jameel Noori Nastaleeq" pitchFamily="2" charset="-78"/>
              <a:cs typeface="Jameel Noori Nastaleeq" pitchFamily="2" charset="-78"/>
            </a:endParaRPr>
          </a:p>
          <a:p>
            <a:pPr lvl="0" algn="just" rtl="1">
              <a:lnSpc>
                <a:spcPct val="125000"/>
              </a:lnSpc>
            </a:pPr>
            <a:r>
              <a:rPr lang="ur-PK" sz="2400" dirty="0">
                <a:latin typeface="Jameel Noori Nastaleeq" pitchFamily="2" charset="-78"/>
                <a:cs typeface="Jameel Noori Nastaleeq" pitchFamily="2" charset="-78"/>
              </a:rPr>
              <a:t>کالج اور یونیورسٹی سطح پر  مختلف سیمینارز اور پروگرامز کے ذریعے مغربی تہذیب کی لغویت اور مسلم معاشرے کےلیے اس کے نقصانات کو واضح کیاجائے۔ </a:t>
            </a:r>
            <a:endParaRPr lang="en-US" sz="2400" dirty="0">
              <a:latin typeface="Jameel Noori Nastaleeq" pitchFamily="2" charset="-78"/>
              <a:cs typeface="Jameel Noori Nastaleeq" pitchFamily="2" charset="-78"/>
            </a:endParaRPr>
          </a:p>
          <a:p>
            <a:pPr lvl="0" algn="just" rtl="1">
              <a:lnSpc>
                <a:spcPct val="125000"/>
              </a:lnSpc>
            </a:pPr>
            <a:r>
              <a:rPr lang="ur-PK" sz="2400" dirty="0">
                <a:latin typeface="Jameel Noori Nastaleeq" pitchFamily="2" charset="-78"/>
                <a:cs typeface="Jameel Noori Nastaleeq" pitchFamily="2" charset="-78"/>
              </a:rPr>
              <a:t>نئی نسل کو اسلامی معاشرت سے مانوس اور قائل کےلیے سوشل میڈیا اور الیکٹرانک میڈیا کے ذریعے اس طرح ان کی ذہن سازی کی جانی چاہیۓ کہ وہ نہ صرف اسلامی معاشرت کا دفاع کریں بلکہ پوری دنیا کے سامنے اس کا عملی نمونہ  بھی پیش کریں۔</a:t>
            </a:r>
            <a:endParaRPr lang="en-US" sz="2400" dirty="0">
              <a:latin typeface="Jameel Noori Nastaleeq" pitchFamily="2" charset="-78"/>
              <a:cs typeface="Jameel Noori Nastaleeq" pitchFamily="2" charset="-78"/>
            </a:endParaRPr>
          </a:p>
          <a:p>
            <a:pPr algn="just" rtl="1">
              <a:lnSpc>
                <a:spcPct val="125000"/>
              </a:lnSpc>
            </a:pPr>
            <a:r>
              <a:rPr lang="ur-PK" sz="2400" dirty="0">
                <a:latin typeface="Jameel Noori Nastaleeq" pitchFamily="2" charset="-78"/>
                <a:cs typeface="Jameel Noori Nastaleeq" pitchFamily="2" charset="-78"/>
              </a:rPr>
              <a:t>تمام مسلم ممالک اپنے اپنے معاشروں میں اسلامی تہذیب و معاشرت کو حتی الوسع عملی طور پر نافذ کرنے کی کوشش کریں۔</a:t>
            </a:r>
            <a:endParaRPr lang="en-US" sz="2400" dirty="0">
              <a:latin typeface="Jameel Noori Nastaleeq" pitchFamily="2" charset="-78"/>
              <a:cs typeface="Jameel Noori Nastaleeq" pitchFamily="2" charset="-78"/>
            </a:endParaRPr>
          </a:p>
        </p:txBody>
      </p:sp>
      <p:sp>
        <p:nvSpPr>
          <p:cNvPr id="2" name="Rectangle 1"/>
          <p:cNvSpPr/>
          <p:nvPr/>
        </p:nvSpPr>
        <p:spPr>
          <a:xfrm>
            <a:off x="3631976" y="685800"/>
            <a:ext cx="1463863" cy="707886"/>
          </a:xfrm>
          <a:prstGeom prst="rect">
            <a:avLst/>
          </a:prstGeom>
        </p:spPr>
        <p:txBody>
          <a:bodyPr wrap="none">
            <a:spAutoFit/>
          </a:bodyPr>
          <a:lstStyle/>
          <a:p>
            <a:pPr algn="ctr" rtl="1"/>
            <a:r>
              <a:rPr lang="ar-SA" sz="4000" b="1" spc="50" dirty="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rPr>
              <a:t>سفارشات</a:t>
            </a:r>
            <a:endParaRPr lang="en-US" sz="4000" b="1" spc="50" dirty="0">
              <a:ln w="11430"/>
              <a:solidFill>
                <a:srgbClr val="0070C0"/>
              </a:solidFill>
              <a:effectLst>
                <a:outerShdw blurRad="76200" dist="50800" dir="5400000" algn="tl" rotWithShape="0">
                  <a:srgbClr val="000000">
                    <a:alpha val="65000"/>
                  </a:srgbClr>
                </a:outerShdw>
              </a:effectLst>
              <a:latin typeface="Jameel Noori Nastaleeq" pitchFamily="2" charset="-78"/>
              <a:cs typeface="Jameel Noori Nastaleeq" pitchFamily="2" charset="-78"/>
            </a:endParaRPr>
          </a:p>
        </p:txBody>
      </p:sp>
    </p:spTree>
    <p:extLst>
      <p:ext uri="{BB962C8B-B14F-4D97-AF65-F5344CB8AC3E}">
        <p14:creationId xmlns:p14="http://schemas.microsoft.com/office/powerpoint/2010/main" val="216186813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3227564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234</TotalTime>
  <Words>9510</Words>
  <Application>Microsoft Office PowerPoint</Application>
  <PresentationFormat>On-screen Show (4:3)</PresentationFormat>
  <Paragraphs>168</Paragraphs>
  <Slides>40</Slides>
  <Notes>0</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Flow</vt:lpstr>
      <vt:lpstr>PowerPoint Presentation</vt:lpstr>
      <vt:lpstr>PowerPoint Presentation</vt:lpstr>
      <vt:lpstr>مقدمہ</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Jaffar</dc:creator>
  <cp:lastModifiedBy>Jaffar</cp:lastModifiedBy>
  <cp:revision>34</cp:revision>
  <dcterms:created xsi:type="dcterms:W3CDTF">2026-01-01T00:08:38Z</dcterms:created>
  <dcterms:modified xsi:type="dcterms:W3CDTF">2026-01-02T00:17:47Z</dcterms:modified>
</cp:coreProperties>
</file>